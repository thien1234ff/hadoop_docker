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media/image30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73" r:id="rId5"/>
    <p:sldId id="260" r:id="rId6"/>
    <p:sldId id="258" r:id="rId7"/>
    <p:sldId id="259" r:id="rId8"/>
    <p:sldId id="275" r:id="rId9"/>
    <p:sldId id="263" r:id="rId10"/>
    <p:sldId id="276" r:id="rId11"/>
    <p:sldId id="277" r:id="rId12"/>
    <p:sldId id="278" r:id="rId13"/>
    <p:sldId id="279" r:id="rId14"/>
    <p:sldId id="280" r:id="rId15"/>
    <p:sldId id="282" r:id="rId16"/>
    <p:sldId id="266" r:id="rId17"/>
    <p:sldId id="283" r:id="rId18"/>
    <p:sldId id="284" r:id="rId19"/>
    <p:sldId id="285" r:id="rId20"/>
    <p:sldId id="286" r:id="rId21"/>
    <p:sldId id="287" r:id="rId22"/>
    <p:sldId id="288" r:id="rId23"/>
    <p:sldId id="289" r:id="rId24"/>
    <p:sldId id="290" r:id="rId25"/>
    <p:sldId id="274" r:id="rId26"/>
    <p:sldId id="292" r:id="rId27"/>
    <p:sldId id="262" r:id="rId28"/>
    <p:sldId id="305" r:id="rId29"/>
    <p:sldId id="291" r:id="rId30"/>
    <p:sldId id="264" r:id="rId31"/>
    <p:sldId id="265" r:id="rId32"/>
  </p:sldIdLst>
  <p:sldSz cx="18288000" cy="10287000"/>
  <p:notesSz cx="6858000" cy="9144000"/>
  <p:embeddedFontLst>
    <p:embeddedFont>
      <p:font typeface="Helvetica World Bold" panose="020B0800040000020004" charset="-122"/>
      <p:bold r:id="rId36"/>
    </p:embeddedFont>
    <p:embeddedFont>
      <p:font typeface="Helvetica World" panose="020B0500040000020004" charset="-122"/>
      <p:regular r:id="rId37"/>
    </p:embeddedFont>
    <p:embeddedFont>
      <p:font typeface="Calibri" panose="020F0502020204030204" charset="0"/>
      <p:regular r:id="rId38"/>
      <p:bold r:id="rId39"/>
      <p:italic r:id="rId40"/>
      <p:boldItalic r:id="rId4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375F"/>
    <a:srgbClr val="ACBFC9"/>
    <a:srgbClr val="272727"/>
    <a:srgbClr val="1F1F1F"/>
    <a:srgbClr val="6F8795"/>
    <a:srgbClr val="70D1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53" autoAdjust="0"/>
    <p:restoredTop sz="94520" autoAdjust="0"/>
  </p:normalViewPr>
  <p:slideViewPr>
    <p:cSldViewPr showGuides="1">
      <p:cViewPr>
        <p:scale>
          <a:sx n="60" d="100"/>
          <a:sy n="60" d="100"/>
        </p:scale>
        <p:origin x="200" y="5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1" Type="http://schemas.openxmlformats.org/officeDocument/2006/relationships/font" Target="fonts/font6.fntdata"/><Relationship Id="rId40" Type="http://schemas.openxmlformats.org/officeDocument/2006/relationships/font" Target="fonts/font5.fntdata"/><Relationship Id="rId4" Type="http://schemas.openxmlformats.org/officeDocument/2006/relationships/slide" Target="slides/slide2.xml"/><Relationship Id="rId39" Type="http://schemas.openxmlformats.org/officeDocument/2006/relationships/font" Target="fonts/font4.fntdata"/><Relationship Id="rId38" Type="http://schemas.openxmlformats.org/officeDocument/2006/relationships/font" Target="fonts/font3.fntdata"/><Relationship Id="rId37" Type="http://schemas.openxmlformats.org/officeDocument/2006/relationships/font" Target="fonts/font2.fntdata"/><Relationship Id="rId36" Type="http://schemas.openxmlformats.org/officeDocument/2006/relationships/font" Target="fonts/font1.fntdata"/><Relationship Id="rId35" Type="http://schemas.openxmlformats.org/officeDocument/2006/relationships/tableStyles" Target="tableStyles.xml"/><Relationship Id="rId34" Type="http://schemas.openxmlformats.org/officeDocument/2006/relationships/viewProps" Target="viewProps.xml"/><Relationship Id="rId33" Type="http://schemas.openxmlformats.org/officeDocument/2006/relationships/presProps" Target="presProps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.jpeg"/><Relationship Id="rId2" Type="http://schemas.openxmlformats.org/officeDocument/2006/relationships/image" Target="../media/image2.png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jpe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jpe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jpe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6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8.jpeg"/><Relationship Id="rId1" Type="http://schemas.openxmlformats.org/officeDocument/2006/relationships/image" Target="../media/image17.jpe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9.png"/><Relationship Id="rId2" Type="http://schemas.openxmlformats.org/officeDocument/2006/relationships/image" Target="../media/image17.jpeg"/><Relationship Id="rId1" Type="http://schemas.openxmlformats.org/officeDocument/2006/relationships/image" Target="../media/image18.jpe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9.png"/><Relationship Id="rId2" Type="http://schemas.openxmlformats.org/officeDocument/2006/relationships/image" Target="../media/image20.png"/><Relationship Id="rId1" Type="http://schemas.openxmlformats.org/officeDocument/2006/relationships/image" Target="../media/image17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1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2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3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7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7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8.png"/></Relationships>
</file>

<file path=ppt/slides/_rels/slide2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image" Target="../media/image17.jpeg"/></Relationships>
</file>

<file path=ppt/slides/_rels/slide2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image" Target="../media/image17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2.jpeg"/><Relationship Id="rId1" Type="http://schemas.openxmlformats.org/officeDocument/2006/relationships/image" Target="../media/image31.jpe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3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  <p:txBody>
          <a:bodyPr/>
          <a:lstStyle/>
          <a:p>
            <a:endParaRPr lang="vi-VN" dirty="0"/>
          </a:p>
        </p:txBody>
      </p:sp>
      <p:sp>
        <p:nvSpPr>
          <p:cNvPr id="3" name="AutoShape 3"/>
          <p:cNvSpPr/>
          <p:nvPr/>
        </p:nvSpPr>
        <p:spPr>
          <a:xfrm>
            <a:off x="1028700" y="9248775"/>
            <a:ext cx="3190857" cy="0"/>
          </a:xfrm>
          <a:prstGeom prst="line">
            <a:avLst/>
          </a:prstGeom>
          <a:ln w="19050" cap="flat">
            <a:solidFill>
              <a:srgbClr val="ADFD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AutoShape 4"/>
          <p:cNvSpPr/>
          <p:nvPr/>
        </p:nvSpPr>
        <p:spPr>
          <a:xfrm>
            <a:off x="14068443" y="1479511"/>
            <a:ext cx="3190857" cy="0"/>
          </a:xfrm>
          <a:prstGeom prst="line">
            <a:avLst/>
          </a:prstGeom>
          <a:ln w="19050" cap="flat">
            <a:solidFill>
              <a:srgbClr val="ADFDF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>
            <a:off x="7319150" y="6412891"/>
            <a:ext cx="3649700" cy="700729"/>
            <a:chOff x="0" y="0"/>
            <a:chExt cx="2116707" cy="4064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16707" cy="406400"/>
            </a:xfrm>
            <a:custGeom>
              <a:avLst/>
              <a:gdLst/>
              <a:ahLst/>
              <a:cxnLst/>
              <a:rect l="l" t="t" r="r" b="b"/>
              <a:pathLst>
                <a:path w="2116707" h="406400">
                  <a:moveTo>
                    <a:pt x="1913507" y="0"/>
                  </a:moveTo>
                  <a:cubicBezTo>
                    <a:pt x="2025732" y="0"/>
                    <a:pt x="2116707" y="90976"/>
                    <a:pt x="2116707" y="203200"/>
                  </a:cubicBezTo>
                  <a:cubicBezTo>
                    <a:pt x="2116707" y="315424"/>
                    <a:pt x="2025732" y="406400"/>
                    <a:pt x="1913507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466068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9525"/>
              <a:ext cx="2116707" cy="3968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80"/>
                </a:lnSpc>
              </a:pP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4090550" y="1921819"/>
            <a:ext cx="10106899" cy="32701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05"/>
              </a:lnSpc>
            </a:pPr>
            <a:r>
              <a:rPr lang="en-US" sz="7525" dirty="0">
                <a:solidFill>
                  <a:schemeClr val="bg1"/>
                </a:solidFill>
                <a:latin typeface="Mokoto"/>
                <a:ea typeface="Mokoto"/>
                <a:cs typeface="Mokoto"/>
                <a:sym typeface="Mokoto"/>
              </a:rPr>
              <a:t>HADOOP </a:t>
            </a:r>
            <a:endParaRPr lang="en-US" sz="7525" dirty="0">
              <a:solidFill>
                <a:schemeClr val="bg1"/>
              </a:solidFill>
              <a:latin typeface="Mokoto"/>
              <a:ea typeface="Mokoto"/>
              <a:cs typeface="Mokoto"/>
              <a:sym typeface="Mokoto"/>
            </a:endParaRPr>
          </a:p>
          <a:p>
            <a:pPr algn="ctr">
              <a:lnSpc>
                <a:spcPts val="8505"/>
              </a:lnSpc>
            </a:pPr>
            <a:r>
              <a:rPr lang="en-US" sz="7525" dirty="0">
                <a:solidFill>
                  <a:schemeClr val="bg1"/>
                </a:solidFill>
                <a:latin typeface="Mokoto"/>
                <a:ea typeface="Mokoto"/>
                <a:cs typeface="Mokoto"/>
                <a:sym typeface="Mokoto"/>
              </a:rPr>
              <a:t>and </a:t>
            </a:r>
            <a:endParaRPr lang="en-US" sz="7525" dirty="0">
              <a:solidFill>
                <a:schemeClr val="bg1"/>
              </a:solidFill>
              <a:latin typeface="Mokoto"/>
              <a:ea typeface="Mokoto"/>
              <a:cs typeface="Mokoto"/>
              <a:sym typeface="Mokoto"/>
            </a:endParaRPr>
          </a:p>
          <a:p>
            <a:pPr algn="ctr">
              <a:lnSpc>
                <a:spcPts val="8505"/>
              </a:lnSpc>
            </a:pPr>
            <a:r>
              <a:rPr lang="en-US" sz="7525" dirty="0" err="1">
                <a:solidFill>
                  <a:schemeClr val="bg1"/>
                </a:solidFill>
                <a:latin typeface="Mokoto"/>
                <a:ea typeface="Mokoto"/>
                <a:cs typeface="Mokoto"/>
                <a:sym typeface="Mokoto"/>
              </a:rPr>
              <a:t>DOCker</a:t>
            </a:r>
            <a:endParaRPr lang="en-US" sz="7525" dirty="0">
              <a:solidFill>
                <a:schemeClr val="bg1"/>
              </a:solidFill>
              <a:latin typeface="Mokoto"/>
              <a:ea typeface="Mokoto"/>
              <a:cs typeface="Mokoto"/>
              <a:sym typeface="Mokoto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4350817" y="5503980"/>
            <a:ext cx="9586367" cy="5473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30"/>
              </a:lnSpc>
            </a:pPr>
            <a:r>
              <a:rPr lang="en-US" sz="3235" b="1" spc="323" dirty="0">
                <a:solidFill>
                  <a:srgbClr val="FFFFFF"/>
                </a:solidFill>
                <a:latin typeface="Helvetica World Bold" panose="020B0800040000020004" charset="-122"/>
                <a:ea typeface="Helvetica World Bold" panose="020B0800040000020004" charset="-122"/>
                <a:cs typeface="Helvetica World Bold" panose="020B0800040000020004" charset="-122"/>
                <a:sym typeface="Helvetica World Bold" panose="020B0800040000020004" charset="-122"/>
              </a:rPr>
              <a:t>STORE AND MULTIPROCESSING </a:t>
            </a:r>
            <a:endParaRPr lang="en-US" sz="3235" b="1" spc="323" dirty="0">
              <a:solidFill>
                <a:srgbClr val="FFFFFF"/>
              </a:solidFill>
              <a:latin typeface="Helvetica World Bold" panose="020B0800040000020004" charset="-122"/>
              <a:ea typeface="Helvetica World Bold" panose="020B0800040000020004" charset="-122"/>
              <a:cs typeface="Helvetica World Bold" panose="020B0800040000020004" charset="-122"/>
              <a:sym typeface="Helvetica World Bold" panose="020B0800040000020004" charset="-122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028700" y="8597585"/>
            <a:ext cx="4967787" cy="421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00"/>
              </a:lnSpc>
              <a:spcBef>
                <a:spcPct val="0"/>
              </a:spcBef>
            </a:pPr>
            <a:r>
              <a:rPr lang="en-US" sz="3200" b="1" spc="-96" dirty="0">
                <a:solidFill>
                  <a:srgbClr val="FFFFFF"/>
                </a:solidFill>
                <a:latin typeface="Helvetica World Bold" panose="020B0800040000020004" charset="-122"/>
                <a:ea typeface="Helvetica World Bold" panose="020B0800040000020004" charset="-122"/>
                <a:cs typeface="Helvetica World Bold" panose="020B0800040000020004" charset="-122"/>
                <a:sym typeface="Helvetica World Bold" panose="020B0800040000020004" charset="-122"/>
              </a:rPr>
              <a:t>2024/08/08</a:t>
            </a:r>
            <a:endParaRPr lang="en-US" sz="3200" b="1" spc="-96" dirty="0">
              <a:solidFill>
                <a:srgbClr val="FFFFFF"/>
              </a:solidFill>
              <a:latin typeface="Helvetica World Bold" panose="020B0800040000020004" charset="-122"/>
              <a:ea typeface="Helvetica World Bold" panose="020B0800040000020004" charset="-122"/>
              <a:cs typeface="Helvetica World Bold" panose="020B0800040000020004" charset="-122"/>
              <a:sym typeface="Helvetica World Bold" panose="020B0800040000020004" charset="-122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4068443" y="828321"/>
            <a:ext cx="3190857" cy="471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200"/>
              </a:lnSpc>
              <a:spcBef>
                <a:spcPct val="0"/>
              </a:spcBef>
            </a:pPr>
            <a:r>
              <a:rPr lang="en-US" sz="3200" b="1" spc="-96">
                <a:solidFill>
                  <a:srgbClr val="FFFFFF"/>
                </a:solidFill>
                <a:latin typeface="Helvetica World Bold" panose="020B0800040000020004" charset="-122"/>
                <a:ea typeface="Helvetica World Bold" panose="020B0800040000020004" charset="-122"/>
                <a:cs typeface="Helvetica World Bold" panose="020B0800040000020004" charset="-122"/>
                <a:sym typeface="Helvetica World Bold" panose="020B0800040000020004" charset="-122"/>
              </a:rPr>
              <a:t>Slide 01</a:t>
            </a:r>
            <a:endParaRPr lang="en-US" sz="3200" b="1" spc="-96">
              <a:solidFill>
                <a:srgbClr val="FFFFFF"/>
              </a:solidFill>
              <a:latin typeface="Helvetica World Bold" panose="020B0800040000020004" charset="-122"/>
              <a:ea typeface="Helvetica World Bold" panose="020B0800040000020004" charset="-122"/>
              <a:cs typeface="Helvetica World Bold" panose="020B0800040000020004" charset="-122"/>
              <a:sym typeface="Helvetica World Bold" panose="020B0800040000020004" charset="-122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7340219" y="6580058"/>
            <a:ext cx="3628630" cy="4140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00"/>
              </a:lnSpc>
              <a:spcBef>
                <a:spcPct val="0"/>
              </a:spcBef>
            </a:pPr>
            <a:r>
              <a:rPr lang="en-US" sz="2800" b="1" spc="280" dirty="0">
                <a:solidFill>
                  <a:srgbClr val="FFFFFF"/>
                </a:solidFill>
                <a:latin typeface="Helvetica World Bold" panose="020B0800040000020004" charset="-122"/>
                <a:ea typeface="Helvetica World Bold" panose="020B0800040000020004" charset="-122"/>
                <a:cs typeface="Helvetica World Bold" panose="020B0800040000020004" charset="-122"/>
                <a:sym typeface="Helvetica World Bold" panose="020B0800040000020004" charset="-122"/>
              </a:rPr>
              <a:t>GET STARTED</a:t>
            </a:r>
            <a:endParaRPr lang="en-US" sz="2800" b="1" spc="280" dirty="0">
              <a:solidFill>
                <a:srgbClr val="FFFFFF"/>
              </a:solidFill>
              <a:latin typeface="Helvetica World Bold" panose="020B0800040000020004" charset="-122"/>
              <a:ea typeface="Helvetica World Bold" panose="020B0800040000020004" charset="-122"/>
              <a:cs typeface="Helvetica World Bold" panose="020B0800040000020004" charset="-122"/>
              <a:sym typeface="Helvetica World Bold" panose="020B0800040000020004" charset="-122"/>
            </a:endParaRP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24702" y="1064223"/>
            <a:ext cx="4483100" cy="2235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1"/>
            <a:stretch>
              <a:fillRect t="-9333" b="-9333"/>
            </a:stretch>
          </a:blipFill>
        </p:spPr>
        <p:txBody>
          <a:bodyPr/>
          <a:lstStyle/>
          <a:p>
            <a:endParaRPr lang="vi-VN" dirty="0"/>
          </a:p>
        </p:txBody>
      </p:sp>
      <p:sp>
        <p:nvSpPr>
          <p:cNvPr id="3" name="TextBox 3"/>
          <p:cNvSpPr txBox="1"/>
          <p:nvPr/>
        </p:nvSpPr>
        <p:spPr>
          <a:xfrm>
            <a:off x="1028700" y="3236957"/>
            <a:ext cx="9580495" cy="10387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40"/>
              </a:lnSpc>
            </a:pPr>
            <a:r>
              <a:rPr lang="en-US" sz="7205" dirty="0">
                <a:solidFill>
                  <a:srgbClr val="70D1F6"/>
                </a:solidFill>
                <a:latin typeface="Mokoto"/>
                <a:ea typeface="Mokoto"/>
                <a:cs typeface="Mokoto"/>
                <a:sym typeface="Mokoto"/>
              </a:rPr>
              <a:t>HADOOP</a:t>
            </a:r>
            <a:endParaRPr lang="en-US" sz="7205" dirty="0">
              <a:solidFill>
                <a:srgbClr val="70D1F6"/>
              </a:solidFill>
              <a:latin typeface="Mokoto"/>
              <a:ea typeface="Mokoto"/>
              <a:cs typeface="Mokoto"/>
              <a:sym typeface="Mokoto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028700" y="5156151"/>
            <a:ext cx="10020300" cy="20313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4400" dirty="0" err="1">
                <a:solidFill>
                  <a:schemeClr val="bg1"/>
                </a:solidFill>
                <a:latin typeface="Times New Roman" panose="02020603050405020304" pitchFamily="18" charset="0"/>
                <a:ea typeface="Helvetica World" panose="020B0500040000020004" charset="-122"/>
                <a:cs typeface="Times New Roman" panose="02020603050405020304" pitchFamily="18" charset="0"/>
                <a:sym typeface="Helvetica World" panose="020B0500040000020004" charset="-122"/>
              </a:rPr>
              <a:t>Là</a:t>
            </a:r>
            <a:r>
              <a:rPr lang="en-US" sz="4400" dirty="0">
                <a:solidFill>
                  <a:schemeClr val="bg1"/>
                </a:solidFill>
                <a:latin typeface="Times New Roman" panose="02020603050405020304" pitchFamily="18" charset="0"/>
                <a:ea typeface="Helvetica World" panose="020B0500040000020004" charset="-122"/>
                <a:cs typeface="Times New Roman" panose="02020603050405020304" pitchFamily="18" charset="0"/>
                <a:sym typeface="Helvetica World" panose="020B0500040000020004" charset="-122"/>
              </a:rPr>
              <a:t> </a:t>
            </a:r>
            <a:r>
              <a:rPr lang="en-US" sz="4400" dirty="0" err="1">
                <a:solidFill>
                  <a:schemeClr val="bg1"/>
                </a:solidFill>
                <a:latin typeface="Times New Roman" panose="02020603050405020304" pitchFamily="18" charset="0"/>
                <a:ea typeface="Helvetica World" panose="020B0500040000020004" charset="-122"/>
                <a:cs typeface="Times New Roman" panose="02020603050405020304" pitchFamily="18" charset="0"/>
                <a:sym typeface="Helvetica World" panose="020B0500040000020004" charset="-122"/>
              </a:rPr>
              <a:t>hệ</a:t>
            </a:r>
            <a:r>
              <a:rPr lang="en-US" sz="4400" dirty="0">
                <a:solidFill>
                  <a:schemeClr val="bg1"/>
                </a:solidFill>
                <a:latin typeface="Times New Roman" panose="02020603050405020304" pitchFamily="18" charset="0"/>
                <a:ea typeface="Helvetica World" panose="020B0500040000020004" charset="-122"/>
                <a:cs typeface="Times New Roman" panose="02020603050405020304" pitchFamily="18" charset="0"/>
                <a:sym typeface="Helvetica World" panose="020B0500040000020004" charset="-122"/>
              </a:rPr>
              <a:t> </a:t>
            </a:r>
            <a:r>
              <a:rPr lang="en-US" sz="4400" dirty="0" err="1">
                <a:solidFill>
                  <a:schemeClr val="bg1"/>
                </a:solidFill>
                <a:latin typeface="Times New Roman" panose="02020603050405020304" pitchFamily="18" charset="0"/>
                <a:ea typeface="Helvetica World" panose="020B0500040000020004" charset="-122"/>
                <a:cs typeface="Times New Roman" panose="02020603050405020304" pitchFamily="18" charset="0"/>
                <a:sym typeface="Helvetica World" panose="020B0500040000020004" charset="-122"/>
              </a:rPr>
              <a:t>sinh</a:t>
            </a:r>
            <a:r>
              <a:rPr lang="en-US" sz="4400" dirty="0">
                <a:solidFill>
                  <a:schemeClr val="bg1"/>
                </a:solidFill>
                <a:latin typeface="Times New Roman" panose="02020603050405020304" pitchFamily="18" charset="0"/>
                <a:ea typeface="Helvetica World" panose="020B0500040000020004" charset="-122"/>
                <a:cs typeface="Times New Roman" panose="02020603050405020304" pitchFamily="18" charset="0"/>
                <a:sym typeface="Helvetica World" panose="020B0500040000020004" charset="-122"/>
              </a:rPr>
              <a:t> </a:t>
            </a:r>
            <a:r>
              <a:rPr lang="en-US" sz="4400" dirty="0" err="1">
                <a:solidFill>
                  <a:schemeClr val="bg1"/>
                </a:solidFill>
                <a:latin typeface="Times New Roman" panose="02020603050405020304" pitchFamily="18" charset="0"/>
                <a:ea typeface="Helvetica World" panose="020B0500040000020004" charset="-122"/>
                <a:cs typeface="Times New Roman" panose="02020603050405020304" pitchFamily="18" charset="0"/>
                <a:sym typeface="Helvetica World" panose="020B0500040000020004" charset="-122"/>
              </a:rPr>
              <a:t>thái</a:t>
            </a:r>
            <a:r>
              <a:rPr lang="en-US" sz="4400" dirty="0">
                <a:solidFill>
                  <a:schemeClr val="bg1"/>
                </a:solidFill>
                <a:latin typeface="Times New Roman" panose="02020603050405020304" pitchFamily="18" charset="0"/>
                <a:ea typeface="Helvetica World" panose="020B0500040000020004" charset="-122"/>
                <a:cs typeface="Times New Roman" panose="02020603050405020304" pitchFamily="18" charset="0"/>
                <a:sym typeface="Helvetica World" panose="020B0500040000020004" charset="-122"/>
              </a:rPr>
              <a:t> </a:t>
            </a:r>
            <a:r>
              <a:rPr lang="en-US" sz="4400" dirty="0" err="1">
                <a:solidFill>
                  <a:schemeClr val="bg1"/>
                </a:solidFill>
                <a:latin typeface="Times New Roman" panose="02020603050405020304" pitchFamily="18" charset="0"/>
                <a:ea typeface="Helvetica World" panose="020B0500040000020004" charset="-122"/>
                <a:cs typeface="Times New Roman" panose="02020603050405020304" pitchFamily="18" charset="0"/>
                <a:sym typeface="Helvetica World" panose="020B0500040000020004" charset="-122"/>
              </a:rPr>
              <a:t>mã</a:t>
            </a:r>
            <a:r>
              <a:rPr lang="en-US" sz="4400" dirty="0">
                <a:solidFill>
                  <a:schemeClr val="bg1"/>
                </a:solidFill>
                <a:latin typeface="Times New Roman" panose="02020603050405020304" pitchFamily="18" charset="0"/>
                <a:ea typeface="Helvetica World" panose="020B0500040000020004" charset="-122"/>
                <a:cs typeface="Times New Roman" panose="02020603050405020304" pitchFamily="18" charset="0"/>
                <a:sym typeface="Helvetica World" panose="020B0500040000020004" charset="-122"/>
              </a:rPr>
              <a:t> </a:t>
            </a:r>
            <a:r>
              <a:rPr lang="en-US" sz="4400" dirty="0" err="1">
                <a:solidFill>
                  <a:schemeClr val="bg1"/>
                </a:solidFill>
                <a:latin typeface="Times New Roman" panose="02020603050405020304" pitchFamily="18" charset="0"/>
                <a:ea typeface="Helvetica World" panose="020B0500040000020004" charset="-122"/>
                <a:cs typeface="Times New Roman" panose="02020603050405020304" pitchFamily="18" charset="0"/>
                <a:sym typeface="Helvetica World" panose="020B0500040000020004" charset="-122"/>
              </a:rPr>
              <a:t>nguồn</a:t>
            </a:r>
            <a:r>
              <a:rPr lang="en-US" sz="4400" dirty="0">
                <a:solidFill>
                  <a:schemeClr val="bg1"/>
                </a:solidFill>
                <a:latin typeface="Times New Roman" panose="02020603050405020304" pitchFamily="18" charset="0"/>
                <a:ea typeface="Helvetica World" panose="020B0500040000020004" charset="-122"/>
                <a:cs typeface="Times New Roman" panose="02020603050405020304" pitchFamily="18" charset="0"/>
                <a:sym typeface="Helvetica World" panose="020B0500040000020004" charset="-122"/>
              </a:rPr>
              <a:t> </a:t>
            </a:r>
            <a:r>
              <a:rPr lang="en-US" sz="4400" dirty="0" err="1">
                <a:solidFill>
                  <a:schemeClr val="bg1"/>
                </a:solidFill>
                <a:latin typeface="Times New Roman" panose="02020603050405020304" pitchFamily="18" charset="0"/>
                <a:ea typeface="Helvetica World" panose="020B0500040000020004" charset="-122"/>
                <a:cs typeface="Times New Roman" panose="02020603050405020304" pitchFamily="18" charset="0"/>
                <a:sym typeface="Helvetica World" panose="020B0500040000020004" charset="-122"/>
              </a:rPr>
              <a:t>mở</a:t>
            </a:r>
            <a:r>
              <a:rPr lang="en-US" sz="4400" dirty="0">
                <a:solidFill>
                  <a:schemeClr val="bg1"/>
                </a:solidFill>
                <a:latin typeface="Times New Roman" panose="02020603050405020304" pitchFamily="18" charset="0"/>
                <a:ea typeface="Helvetica World" panose="020B0500040000020004" charset="-122"/>
                <a:cs typeface="Times New Roman" panose="02020603050405020304" pitchFamily="18" charset="0"/>
                <a:sym typeface="Helvetica World" panose="020B0500040000020004" charset="-122"/>
              </a:rPr>
              <a:t> </a:t>
            </a:r>
            <a:r>
              <a:rPr lang="en-US" sz="4400" dirty="0" err="1">
                <a:solidFill>
                  <a:schemeClr val="bg1"/>
                </a:solidFill>
                <a:latin typeface="Times New Roman" panose="02020603050405020304" pitchFamily="18" charset="0"/>
                <a:ea typeface="Helvetica World" panose="020B0500040000020004" charset="-122"/>
                <a:cs typeface="Times New Roman" panose="02020603050405020304" pitchFamily="18" charset="0"/>
                <a:sym typeface="Helvetica World" panose="020B0500040000020004" charset="-122"/>
              </a:rPr>
              <a:t>chuyên</a:t>
            </a:r>
            <a:r>
              <a:rPr lang="en-US" sz="4400" dirty="0">
                <a:solidFill>
                  <a:schemeClr val="bg1"/>
                </a:solidFill>
                <a:latin typeface="Times New Roman" panose="02020603050405020304" pitchFamily="18" charset="0"/>
                <a:ea typeface="Helvetica World" panose="020B0500040000020004" charset="-122"/>
                <a:cs typeface="Times New Roman" panose="02020603050405020304" pitchFamily="18" charset="0"/>
                <a:sym typeface="Helvetica World" panose="020B0500040000020004" charset="-122"/>
              </a:rPr>
              <a:t> </a:t>
            </a:r>
            <a:r>
              <a:rPr lang="en-US" sz="4400" dirty="0" err="1">
                <a:solidFill>
                  <a:schemeClr val="bg1"/>
                </a:solidFill>
                <a:latin typeface="Times New Roman" panose="02020603050405020304" pitchFamily="18" charset="0"/>
                <a:ea typeface="Helvetica World" panose="020B0500040000020004" charset="-122"/>
                <a:cs typeface="Times New Roman" panose="02020603050405020304" pitchFamily="18" charset="0"/>
                <a:sym typeface="Helvetica World" panose="020B0500040000020004" charset="-122"/>
              </a:rPr>
              <a:t>xử</a:t>
            </a:r>
            <a:r>
              <a:rPr lang="en-US" sz="4400" dirty="0">
                <a:solidFill>
                  <a:schemeClr val="bg1"/>
                </a:solidFill>
                <a:latin typeface="Times New Roman" panose="02020603050405020304" pitchFamily="18" charset="0"/>
                <a:ea typeface="Helvetica World" panose="020B0500040000020004" charset="-122"/>
                <a:cs typeface="Times New Roman" panose="02020603050405020304" pitchFamily="18" charset="0"/>
                <a:sym typeface="Helvetica World" panose="020B0500040000020004" charset="-122"/>
              </a:rPr>
              <a:t> </a:t>
            </a:r>
            <a:r>
              <a:rPr lang="en-US" sz="4400" dirty="0" err="1">
                <a:solidFill>
                  <a:schemeClr val="bg1"/>
                </a:solidFill>
                <a:latin typeface="Times New Roman" panose="02020603050405020304" pitchFamily="18" charset="0"/>
                <a:ea typeface="Helvetica World" panose="020B0500040000020004" charset="-122"/>
                <a:cs typeface="Times New Roman" panose="02020603050405020304" pitchFamily="18" charset="0"/>
                <a:sym typeface="Helvetica World" panose="020B0500040000020004" charset="-122"/>
              </a:rPr>
              <a:t>lí</a:t>
            </a:r>
            <a:r>
              <a:rPr lang="en-US" sz="4400" dirty="0">
                <a:solidFill>
                  <a:schemeClr val="bg1"/>
                </a:solidFill>
                <a:latin typeface="Times New Roman" panose="02020603050405020304" pitchFamily="18" charset="0"/>
                <a:ea typeface="Helvetica World" panose="020B0500040000020004" charset="-122"/>
                <a:cs typeface="Times New Roman" panose="02020603050405020304" pitchFamily="18" charset="0"/>
                <a:sym typeface="Helvetica World" panose="020B0500040000020004" charset="-122"/>
              </a:rPr>
              <a:t> </a:t>
            </a:r>
            <a:r>
              <a:rPr lang="en-US" sz="4400" dirty="0" err="1">
                <a:solidFill>
                  <a:schemeClr val="bg1"/>
                </a:solidFill>
                <a:latin typeface="Times New Roman" panose="02020603050405020304" pitchFamily="18" charset="0"/>
                <a:ea typeface="Helvetica World" panose="020B0500040000020004" charset="-122"/>
                <a:cs typeface="Times New Roman" panose="02020603050405020304" pitchFamily="18" charset="0"/>
                <a:sym typeface="Helvetica World" panose="020B0500040000020004" charset="-122"/>
              </a:rPr>
              <a:t>dữ</a:t>
            </a:r>
            <a:r>
              <a:rPr lang="en-US" sz="4400" dirty="0">
                <a:solidFill>
                  <a:schemeClr val="bg1"/>
                </a:solidFill>
                <a:latin typeface="Times New Roman" panose="02020603050405020304" pitchFamily="18" charset="0"/>
                <a:ea typeface="Helvetica World" panose="020B0500040000020004" charset="-122"/>
                <a:cs typeface="Times New Roman" panose="02020603050405020304" pitchFamily="18" charset="0"/>
                <a:sym typeface="Helvetica World" panose="020B0500040000020004" charset="-122"/>
              </a:rPr>
              <a:t> </a:t>
            </a:r>
            <a:r>
              <a:rPr lang="en-US" sz="4400" dirty="0" err="1">
                <a:solidFill>
                  <a:schemeClr val="bg1"/>
                </a:solidFill>
                <a:latin typeface="Times New Roman" panose="02020603050405020304" pitchFamily="18" charset="0"/>
                <a:ea typeface="Helvetica World" panose="020B0500040000020004" charset="-122"/>
                <a:cs typeface="Times New Roman" panose="02020603050405020304" pitchFamily="18" charset="0"/>
                <a:sym typeface="Helvetica World" panose="020B0500040000020004" charset="-122"/>
              </a:rPr>
              <a:t>liệu</a:t>
            </a:r>
            <a:r>
              <a:rPr lang="en-US" sz="4400" dirty="0">
                <a:solidFill>
                  <a:schemeClr val="bg1"/>
                </a:solidFill>
                <a:latin typeface="Times New Roman" panose="02020603050405020304" pitchFamily="18" charset="0"/>
                <a:ea typeface="Helvetica World" panose="020B0500040000020004" charset="-122"/>
                <a:cs typeface="Times New Roman" panose="02020603050405020304" pitchFamily="18" charset="0"/>
                <a:sym typeface="Helvetica World" panose="020B0500040000020004" charset="-122"/>
              </a:rPr>
              <a:t> </a:t>
            </a:r>
            <a:r>
              <a:rPr lang="en-US" sz="4400" dirty="0" err="1">
                <a:solidFill>
                  <a:schemeClr val="bg1"/>
                </a:solidFill>
                <a:latin typeface="Times New Roman" panose="02020603050405020304" pitchFamily="18" charset="0"/>
                <a:ea typeface="Helvetica World" panose="020B0500040000020004" charset="-122"/>
                <a:cs typeface="Times New Roman" panose="02020603050405020304" pitchFamily="18" charset="0"/>
                <a:sym typeface="Helvetica World" panose="020B0500040000020004" charset="-122"/>
              </a:rPr>
              <a:t>lớn</a:t>
            </a:r>
            <a:endParaRPr lang="en-US" sz="4400" dirty="0">
              <a:solidFill>
                <a:schemeClr val="bg1"/>
              </a:solidFill>
              <a:latin typeface="Times New Roman" panose="02020603050405020304" pitchFamily="18" charset="0"/>
              <a:ea typeface="Helvetica World" panose="020B0500040000020004" charset="-122"/>
              <a:cs typeface="Times New Roman" panose="02020603050405020304" pitchFamily="18" charset="0"/>
              <a:sym typeface="Helvetica World" panose="020B0500040000020004" charset="-122"/>
            </a:endParaRPr>
          </a:p>
          <a:p>
            <a:pPr algn="l"/>
            <a:r>
              <a:rPr lang="en-US" sz="4400" dirty="0" err="1">
                <a:solidFill>
                  <a:schemeClr val="bg1"/>
                </a:solidFill>
                <a:latin typeface="Times New Roman" panose="02020603050405020304" pitchFamily="18" charset="0"/>
                <a:ea typeface="Helvetica World" panose="020B0500040000020004" charset="-122"/>
                <a:cs typeface="Times New Roman" panose="02020603050405020304" pitchFamily="18" charset="0"/>
                <a:sym typeface="Helvetica World" panose="020B0500040000020004" charset="-122"/>
              </a:rPr>
              <a:t>Cung</a:t>
            </a:r>
            <a:r>
              <a:rPr lang="en-US" sz="4400" dirty="0">
                <a:solidFill>
                  <a:schemeClr val="bg1"/>
                </a:solidFill>
                <a:latin typeface="Times New Roman" panose="02020603050405020304" pitchFamily="18" charset="0"/>
                <a:ea typeface="Helvetica World" panose="020B0500040000020004" charset="-122"/>
                <a:cs typeface="Times New Roman" panose="02020603050405020304" pitchFamily="18" charset="0"/>
                <a:sym typeface="Helvetica World" panose="020B0500040000020004" charset="-122"/>
              </a:rPr>
              <a:t> </a:t>
            </a:r>
            <a:r>
              <a:rPr lang="en-US" sz="4400" dirty="0" err="1">
                <a:solidFill>
                  <a:schemeClr val="bg1"/>
                </a:solidFill>
                <a:latin typeface="Times New Roman" panose="02020603050405020304" pitchFamily="18" charset="0"/>
                <a:ea typeface="Helvetica World" panose="020B0500040000020004" charset="-122"/>
                <a:cs typeface="Times New Roman" panose="02020603050405020304" pitchFamily="18" charset="0"/>
                <a:sym typeface="Helvetica World" panose="020B0500040000020004" charset="-122"/>
              </a:rPr>
              <a:t>cấp</a:t>
            </a:r>
            <a:r>
              <a:rPr lang="en-US" sz="4400" dirty="0">
                <a:solidFill>
                  <a:schemeClr val="bg1"/>
                </a:solidFill>
                <a:latin typeface="Times New Roman" panose="02020603050405020304" pitchFamily="18" charset="0"/>
                <a:ea typeface="Helvetica World" panose="020B0500040000020004" charset="-122"/>
                <a:cs typeface="Times New Roman" panose="02020603050405020304" pitchFamily="18" charset="0"/>
                <a:sym typeface="Helvetica World" panose="020B0500040000020004" charset="-122"/>
              </a:rPr>
              <a:t> </a:t>
            </a:r>
            <a:r>
              <a:rPr lang="en-US" sz="4400" dirty="0" err="1">
                <a:solidFill>
                  <a:schemeClr val="bg1"/>
                </a:solidFill>
                <a:latin typeface="Times New Roman" panose="02020603050405020304" pitchFamily="18" charset="0"/>
                <a:ea typeface="Helvetica World" panose="020B0500040000020004" charset="-122"/>
                <a:cs typeface="Times New Roman" panose="02020603050405020304" pitchFamily="18" charset="0"/>
                <a:sym typeface="Helvetica World" panose="020B0500040000020004" charset="-122"/>
              </a:rPr>
              <a:t>nền</a:t>
            </a:r>
            <a:r>
              <a:rPr lang="en-US" sz="4400" dirty="0">
                <a:solidFill>
                  <a:schemeClr val="bg1"/>
                </a:solidFill>
                <a:latin typeface="Times New Roman" panose="02020603050405020304" pitchFamily="18" charset="0"/>
                <a:ea typeface="Helvetica World" panose="020B0500040000020004" charset="-122"/>
                <a:cs typeface="Times New Roman" panose="02020603050405020304" pitchFamily="18" charset="0"/>
                <a:sym typeface="Helvetica World" panose="020B0500040000020004" charset="-122"/>
              </a:rPr>
              <a:t> </a:t>
            </a:r>
            <a:r>
              <a:rPr lang="en-US" sz="4400" dirty="0" err="1">
                <a:solidFill>
                  <a:schemeClr val="bg1"/>
                </a:solidFill>
                <a:latin typeface="Times New Roman" panose="02020603050405020304" pitchFamily="18" charset="0"/>
                <a:ea typeface="Helvetica World" panose="020B0500040000020004" charset="-122"/>
                <a:cs typeface="Times New Roman" panose="02020603050405020304" pitchFamily="18" charset="0"/>
                <a:sym typeface="Helvetica World" panose="020B0500040000020004" charset="-122"/>
              </a:rPr>
              <a:t>tảng</a:t>
            </a:r>
            <a:r>
              <a:rPr lang="en-US" sz="4400" dirty="0">
                <a:solidFill>
                  <a:schemeClr val="bg1"/>
                </a:solidFill>
                <a:latin typeface="Times New Roman" panose="02020603050405020304" pitchFamily="18" charset="0"/>
                <a:ea typeface="Helvetica World" panose="020B0500040000020004" charset="-122"/>
                <a:cs typeface="Times New Roman" panose="02020603050405020304" pitchFamily="18" charset="0"/>
                <a:sym typeface="Helvetica World" panose="020B0500040000020004" charset="-122"/>
              </a:rPr>
              <a:t> </a:t>
            </a:r>
            <a:r>
              <a:rPr lang="en-US" sz="4400" dirty="0" err="1">
                <a:solidFill>
                  <a:schemeClr val="bg1"/>
                </a:solidFill>
                <a:latin typeface="Times New Roman" panose="02020603050405020304" pitchFamily="18" charset="0"/>
                <a:ea typeface="Helvetica World" panose="020B0500040000020004" charset="-122"/>
                <a:cs typeface="Times New Roman" panose="02020603050405020304" pitchFamily="18" charset="0"/>
                <a:sym typeface="Helvetica World" panose="020B0500040000020004" charset="-122"/>
              </a:rPr>
              <a:t>phân</a:t>
            </a:r>
            <a:r>
              <a:rPr lang="en-US" sz="4400" dirty="0">
                <a:solidFill>
                  <a:schemeClr val="bg1"/>
                </a:solidFill>
                <a:latin typeface="Times New Roman" panose="02020603050405020304" pitchFamily="18" charset="0"/>
                <a:ea typeface="Helvetica World" panose="020B0500040000020004" charset="-122"/>
                <a:cs typeface="Times New Roman" panose="02020603050405020304" pitchFamily="18" charset="0"/>
                <a:sym typeface="Helvetica World" panose="020B0500040000020004" charset="-122"/>
              </a:rPr>
              <a:t> </a:t>
            </a:r>
            <a:r>
              <a:rPr lang="en-US" sz="4400" dirty="0" err="1">
                <a:solidFill>
                  <a:schemeClr val="bg1"/>
                </a:solidFill>
                <a:latin typeface="Times New Roman" panose="02020603050405020304" pitchFamily="18" charset="0"/>
                <a:ea typeface="Helvetica World" panose="020B0500040000020004" charset="-122"/>
                <a:cs typeface="Times New Roman" panose="02020603050405020304" pitchFamily="18" charset="0"/>
                <a:sym typeface="Helvetica World" panose="020B0500040000020004" charset="-122"/>
              </a:rPr>
              <a:t>tán</a:t>
            </a:r>
            <a:endParaRPr lang="en-US" sz="4400" dirty="0">
              <a:solidFill>
                <a:schemeClr val="bg1"/>
              </a:solidFill>
              <a:latin typeface="Times New Roman" panose="02020603050405020304" pitchFamily="18" charset="0"/>
              <a:ea typeface="Helvetica World" panose="020B0500040000020004" charset="-122"/>
              <a:cs typeface="Times New Roman" panose="02020603050405020304" pitchFamily="18" charset="0"/>
              <a:sym typeface="Helvetica World" panose="020B0500040000020004" charset="-122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028700" y="8597585"/>
            <a:ext cx="4967787" cy="421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00"/>
              </a:lnSpc>
              <a:spcBef>
                <a:spcPct val="0"/>
              </a:spcBef>
            </a:pPr>
            <a:r>
              <a:rPr lang="en-US" sz="3200" b="1" spc="-96" dirty="0">
                <a:solidFill>
                  <a:srgbClr val="FFFFFF"/>
                </a:solidFill>
                <a:latin typeface="Helvetica World Bold" panose="020B0800040000020004" charset="-122"/>
                <a:ea typeface="Helvetica World Bold" panose="020B0800040000020004" charset="-122"/>
                <a:cs typeface="Helvetica World Bold" panose="020B0800040000020004" charset="-122"/>
                <a:sym typeface="Helvetica World Bold" panose="020B0800040000020004" charset="-122"/>
              </a:rPr>
              <a:t>2024/08/08</a:t>
            </a:r>
            <a:endParaRPr lang="en-US" sz="3200" b="1" spc="-96" dirty="0">
              <a:solidFill>
                <a:srgbClr val="FFFFFF"/>
              </a:solidFill>
              <a:latin typeface="Helvetica World Bold" panose="020B0800040000020004" charset="-122"/>
              <a:ea typeface="Helvetica World Bold" panose="020B0800040000020004" charset="-122"/>
              <a:cs typeface="Helvetica World Bold" panose="020B0800040000020004" charset="-122"/>
              <a:sym typeface="Helvetica World Bold" panose="020B0800040000020004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1028700" y="9248775"/>
            <a:ext cx="3190857" cy="0"/>
          </a:xfrm>
          <a:prstGeom prst="line">
            <a:avLst/>
          </a:prstGeom>
          <a:ln w="19050" cap="flat">
            <a:solidFill>
              <a:srgbClr val="ADFD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4068443" y="828321"/>
            <a:ext cx="3190857" cy="471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200"/>
              </a:lnSpc>
              <a:spcBef>
                <a:spcPct val="0"/>
              </a:spcBef>
            </a:pPr>
            <a:r>
              <a:rPr lang="en-US" sz="3200" b="1" spc="-96" dirty="0">
                <a:solidFill>
                  <a:srgbClr val="FFFFFF"/>
                </a:solidFill>
                <a:latin typeface="Helvetica World Bold" panose="020B0800040000020004" charset="-122"/>
                <a:ea typeface="Helvetica World Bold" panose="020B0800040000020004" charset="-122"/>
                <a:cs typeface="Helvetica World Bold" panose="020B0800040000020004" charset="-122"/>
                <a:sym typeface="Helvetica World Bold" panose="020B0800040000020004" charset="-122"/>
              </a:rPr>
              <a:t>Slide 02</a:t>
            </a:r>
            <a:endParaRPr lang="en-US" sz="3200" b="1" spc="-96" dirty="0">
              <a:solidFill>
                <a:srgbClr val="FFFFFF"/>
              </a:solidFill>
              <a:latin typeface="Helvetica World Bold" panose="020B0800040000020004" charset="-122"/>
              <a:ea typeface="Helvetica World Bold" panose="020B0800040000020004" charset="-122"/>
              <a:cs typeface="Helvetica World Bold" panose="020B0800040000020004" charset="-122"/>
              <a:sym typeface="Helvetica World Bold" panose="020B0800040000020004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14068443" y="1479511"/>
            <a:ext cx="3190857" cy="0"/>
          </a:xfrm>
          <a:prstGeom prst="line">
            <a:avLst/>
          </a:prstGeom>
          <a:ln w="19050" cap="flat">
            <a:solidFill>
              <a:srgbClr val="ADFD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0"/>
          <p:cNvSpPr txBox="1"/>
          <p:nvPr/>
        </p:nvSpPr>
        <p:spPr>
          <a:xfrm>
            <a:off x="1676400" y="1219083"/>
            <a:ext cx="1276113" cy="2965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195"/>
              </a:lnSpc>
            </a:pPr>
            <a:r>
              <a:rPr lang="en-US" sz="2400" b="1" spc="-99" dirty="0">
                <a:solidFill>
                  <a:srgbClr val="FFFFFF"/>
                </a:solidFill>
                <a:latin typeface="Helvetica World Bold" panose="020B0800040000020004" charset="-122"/>
                <a:ea typeface="Helvetica World Bold" panose="020B0800040000020004" charset="-122"/>
                <a:cs typeface="Helvetica World Bold" panose="020B0800040000020004" charset="-122"/>
                <a:sym typeface="Helvetica World Bold" panose="020B0800040000020004" charset="-122"/>
              </a:rPr>
              <a:t>K46F</a:t>
            </a:r>
            <a:endParaRPr lang="en-US" sz="2400" b="1" spc="-99" dirty="0">
              <a:solidFill>
                <a:srgbClr val="FFFFFF"/>
              </a:solidFill>
              <a:latin typeface="Helvetica World Bold" panose="020B0800040000020004" charset="-122"/>
              <a:ea typeface="Helvetica World Bold" panose="020B0800040000020004" charset="-122"/>
              <a:cs typeface="Helvetica World Bold" panose="020B0800040000020004" charset="-122"/>
              <a:sym typeface="Helvetica World Bold" panose="020B0800040000020004" charset="-122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65150" y="1038224"/>
            <a:ext cx="4483100" cy="2235200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70568" y="1064223"/>
            <a:ext cx="18078450" cy="9296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1028700" y="8211780"/>
            <a:ext cx="4967787" cy="8313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00"/>
              </a:lnSpc>
              <a:spcBef>
                <a:spcPct val="0"/>
              </a:spcBef>
            </a:pPr>
            <a:r>
              <a:rPr lang="en-US" sz="3200" b="1" spc="-96" dirty="0">
                <a:solidFill>
                  <a:srgbClr val="FFFFFF"/>
                </a:solidFill>
                <a:latin typeface="Helvetica World Bold" panose="020B0800040000020004" charset="-122"/>
                <a:ea typeface="Helvetica World Bold" panose="020B0800040000020004" charset="-122"/>
                <a:cs typeface="Helvetica World Bold" panose="020B0800040000020004" charset="-122"/>
                <a:sym typeface="Helvetica World Bold" panose="020B0800040000020004" charset="-122"/>
              </a:rPr>
              <a:t>HADOOP WITH VISUALIZATION</a:t>
            </a:r>
            <a:endParaRPr lang="en-US" sz="3200" b="1" spc="-96" dirty="0">
              <a:solidFill>
                <a:srgbClr val="FFFFFF"/>
              </a:solidFill>
              <a:latin typeface="Helvetica World Bold" panose="020B0800040000020004" charset="-122"/>
              <a:ea typeface="Helvetica World Bold" panose="020B0800040000020004" charset="-122"/>
              <a:cs typeface="Helvetica World Bold" panose="020B0800040000020004" charset="-122"/>
              <a:sym typeface="Helvetica World Bold" panose="020B0800040000020004" charset="-122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1028700" y="9248775"/>
            <a:ext cx="3190857" cy="0"/>
          </a:xfrm>
          <a:prstGeom prst="line">
            <a:avLst/>
          </a:prstGeom>
          <a:ln w="19050" cap="flat">
            <a:solidFill>
              <a:srgbClr val="ADFD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4068443" y="828321"/>
            <a:ext cx="3190857" cy="471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200"/>
              </a:lnSpc>
              <a:spcBef>
                <a:spcPct val="0"/>
              </a:spcBef>
            </a:pPr>
            <a:r>
              <a:rPr lang="en-US" sz="3200" b="1" spc="-96" dirty="0">
                <a:solidFill>
                  <a:srgbClr val="FFFFFF"/>
                </a:solidFill>
                <a:latin typeface="Helvetica World Bold" panose="020B0800040000020004" charset="-122"/>
                <a:ea typeface="Helvetica World Bold" panose="020B0800040000020004" charset="-122"/>
                <a:cs typeface="Helvetica World Bold" panose="020B0800040000020004" charset="-122"/>
                <a:sym typeface="Helvetica World Bold" panose="020B0800040000020004" charset="-122"/>
              </a:rPr>
              <a:t>Slide 03</a:t>
            </a:r>
            <a:endParaRPr lang="en-US" sz="3200" b="1" spc="-96" dirty="0">
              <a:solidFill>
                <a:srgbClr val="FFFFFF"/>
              </a:solidFill>
              <a:latin typeface="Helvetica World Bold" panose="020B0800040000020004" charset="-122"/>
              <a:ea typeface="Helvetica World Bold" panose="020B0800040000020004" charset="-122"/>
              <a:cs typeface="Helvetica World Bold" panose="020B0800040000020004" charset="-122"/>
              <a:sym typeface="Helvetica World Bold" panose="020B0800040000020004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14068443" y="1479511"/>
            <a:ext cx="3190857" cy="0"/>
          </a:xfrm>
          <a:prstGeom prst="line">
            <a:avLst/>
          </a:prstGeom>
          <a:ln w="19050" cap="flat">
            <a:solidFill>
              <a:srgbClr val="ADFDFF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5" y="1300126"/>
            <a:ext cx="18078450" cy="9296400"/>
          </a:xfrm>
          <a:prstGeom prst="rect">
            <a:avLst/>
          </a:prstGeom>
        </p:spPr>
      </p:pic>
      <p:sp>
        <p:nvSpPr>
          <p:cNvPr id="20" name="TextBox 7"/>
          <p:cNvSpPr txBox="1"/>
          <p:nvPr/>
        </p:nvSpPr>
        <p:spPr>
          <a:xfrm>
            <a:off x="14220843" y="980721"/>
            <a:ext cx="3190857" cy="421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200"/>
              </a:lnSpc>
              <a:spcBef>
                <a:spcPct val="0"/>
              </a:spcBef>
            </a:pPr>
            <a:r>
              <a:rPr lang="en-US" sz="3200" b="1" spc="-96" dirty="0">
                <a:latin typeface="Helvetica World Bold" panose="020B0800040000020004" charset="-122"/>
                <a:ea typeface="Helvetica World Bold" panose="020B0800040000020004" charset="-122"/>
                <a:cs typeface="Helvetica World Bold" panose="020B0800040000020004" charset="-122"/>
                <a:sym typeface="Helvetica World Bold" panose="020B0800040000020004" charset="-122"/>
              </a:rPr>
              <a:t>Slide 02</a:t>
            </a:r>
            <a:endParaRPr lang="en-US" sz="3200" b="1" spc="-96" dirty="0">
              <a:latin typeface="Helvetica World Bold" panose="020B0800040000020004" charset="-122"/>
              <a:ea typeface="Helvetica World Bold" panose="020B0800040000020004" charset="-122"/>
              <a:cs typeface="Helvetica World Bold" panose="020B0800040000020004" charset="-122"/>
              <a:sym typeface="Helvetica World Bold" panose="020B0800040000020004" charset="-122"/>
            </a:endParaRPr>
          </a:p>
        </p:txBody>
      </p:sp>
      <p:sp>
        <p:nvSpPr>
          <p:cNvPr id="21" name="AutoShape 8"/>
          <p:cNvSpPr/>
          <p:nvPr/>
        </p:nvSpPr>
        <p:spPr>
          <a:xfrm>
            <a:off x="14220843" y="1631911"/>
            <a:ext cx="3190857" cy="0"/>
          </a:xfrm>
          <a:prstGeom prst="line">
            <a:avLst/>
          </a:prstGeom>
          <a:ln w="19050" cap="flat">
            <a:solidFill>
              <a:srgbClr val="ADFDFF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-3113308" y="324858"/>
            <a:ext cx="3038915" cy="238156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14068443" y="1479511"/>
            <a:ext cx="3190857" cy="0"/>
          </a:xfrm>
          <a:prstGeom prst="line">
            <a:avLst/>
          </a:prstGeom>
          <a:ln w="19050" cap="flat">
            <a:solidFill>
              <a:srgbClr val="ADFD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TextBox 9"/>
          <p:cNvSpPr txBox="1"/>
          <p:nvPr/>
        </p:nvSpPr>
        <p:spPr>
          <a:xfrm>
            <a:off x="14068443" y="828321"/>
            <a:ext cx="3190857" cy="421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200"/>
              </a:lnSpc>
              <a:spcBef>
                <a:spcPct val="0"/>
              </a:spcBef>
            </a:pPr>
            <a:r>
              <a:rPr lang="en-US" sz="3200" b="1" spc="-96" dirty="0">
                <a:solidFill>
                  <a:srgbClr val="FFFFFF"/>
                </a:solidFill>
                <a:latin typeface="Helvetica World Bold" panose="020B0800040000020004" charset="-122"/>
                <a:ea typeface="Helvetica World Bold" panose="020B0800040000020004" charset="-122"/>
                <a:cs typeface="Helvetica World Bold" panose="020B0800040000020004" charset="-122"/>
                <a:sym typeface="Helvetica World Bold" panose="020B0800040000020004" charset="-122"/>
              </a:rPr>
              <a:t>Slide 03</a:t>
            </a:r>
            <a:endParaRPr lang="en-US" sz="3200" b="1" spc="-96" dirty="0">
              <a:solidFill>
                <a:srgbClr val="FFFFFF"/>
              </a:solidFill>
              <a:latin typeface="Helvetica World Bold" panose="020B0800040000020004" charset="-122"/>
              <a:ea typeface="Helvetica World Bold" panose="020B0800040000020004" charset="-122"/>
              <a:cs typeface="Helvetica World Bold" panose="020B0800040000020004" charset="-122"/>
              <a:sym typeface="Helvetica World Bold" panose="020B0800040000020004" charset="-122"/>
            </a:endParaRPr>
          </a:p>
        </p:txBody>
      </p:sp>
      <p:sp>
        <p:nvSpPr>
          <p:cNvPr id="28" name="TextBox 3"/>
          <p:cNvSpPr txBox="1"/>
          <p:nvPr/>
        </p:nvSpPr>
        <p:spPr>
          <a:xfrm>
            <a:off x="1233987" y="3272902"/>
            <a:ext cx="9525000" cy="10387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140"/>
              </a:lnSpc>
            </a:pPr>
            <a:r>
              <a:rPr lang="en-US" sz="7205" dirty="0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DOCKER</a:t>
            </a:r>
            <a:endParaRPr lang="en-US" sz="7205" dirty="0">
              <a:solidFill>
                <a:srgbClr val="FFFFFF"/>
              </a:solidFill>
              <a:latin typeface="Mokoto"/>
              <a:ea typeface="Mokoto"/>
              <a:cs typeface="Mokoto"/>
              <a:sym typeface="Mokoto"/>
            </a:endParaRPr>
          </a:p>
        </p:txBody>
      </p:sp>
      <p:sp>
        <p:nvSpPr>
          <p:cNvPr id="29" name="TextBox 4"/>
          <p:cNvSpPr txBox="1"/>
          <p:nvPr/>
        </p:nvSpPr>
        <p:spPr>
          <a:xfrm>
            <a:off x="252196" y="5562909"/>
            <a:ext cx="6910604" cy="11074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8160" lvl="1" indent="-259080" algn="l">
              <a:buFont typeface="Arial" panose="020B0604020202020204"/>
              <a:buChar char="•"/>
            </a:pPr>
            <a:r>
              <a:rPr lang="en-US" sz="3600" dirty="0" err="1">
                <a:solidFill>
                  <a:srgbClr val="FFFFFF"/>
                </a:solidFill>
                <a:latin typeface="Helvetica World" panose="020B0500040000020004" charset="-122"/>
                <a:ea typeface="Helvetica World" panose="020B0500040000020004" charset="-122"/>
                <a:cs typeface="Helvetica World" panose="020B0500040000020004" charset="-122"/>
                <a:sym typeface="Helvetica World" panose="020B0500040000020004" charset="-122"/>
              </a:rPr>
              <a:t>Công</a:t>
            </a:r>
            <a:r>
              <a:rPr lang="en-US" sz="3600" dirty="0">
                <a:solidFill>
                  <a:srgbClr val="FFFFFF"/>
                </a:solidFill>
                <a:latin typeface="Helvetica World" panose="020B0500040000020004" charset="-122"/>
                <a:ea typeface="Helvetica World" panose="020B0500040000020004" charset="-122"/>
                <a:cs typeface="Helvetica World" panose="020B0500040000020004" charset="-122"/>
                <a:sym typeface="Helvetica World" panose="020B0500040000020004" charset="-122"/>
              </a:rPr>
              <a:t> </a:t>
            </a:r>
            <a:r>
              <a:rPr lang="en-US" sz="3600" dirty="0" err="1">
                <a:solidFill>
                  <a:srgbClr val="FFFFFF"/>
                </a:solidFill>
                <a:latin typeface="Helvetica World" panose="020B0500040000020004" charset="-122"/>
                <a:ea typeface="Helvetica World" panose="020B0500040000020004" charset="-122"/>
                <a:cs typeface="Helvetica World" panose="020B0500040000020004" charset="-122"/>
                <a:sym typeface="Helvetica World" panose="020B0500040000020004" charset="-122"/>
              </a:rPr>
              <a:t>cụ</a:t>
            </a:r>
            <a:r>
              <a:rPr lang="en-US" sz="3600" dirty="0">
                <a:solidFill>
                  <a:srgbClr val="FFFFFF"/>
                </a:solidFill>
                <a:latin typeface="Helvetica World" panose="020B0500040000020004" charset="-122"/>
                <a:ea typeface="Helvetica World" panose="020B0500040000020004" charset="-122"/>
                <a:cs typeface="Helvetica World" panose="020B0500040000020004" charset="-122"/>
                <a:sym typeface="Helvetica World" panose="020B0500040000020004" charset="-122"/>
              </a:rPr>
              <a:t> </a:t>
            </a:r>
            <a:r>
              <a:rPr lang="en-US" sz="3600" dirty="0" err="1">
                <a:solidFill>
                  <a:srgbClr val="FFFFFF"/>
                </a:solidFill>
                <a:latin typeface="Helvetica World" panose="020B0500040000020004" charset="-122"/>
                <a:ea typeface="Helvetica World" panose="020B0500040000020004" charset="-122"/>
                <a:cs typeface="Helvetica World" panose="020B0500040000020004" charset="-122"/>
                <a:sym typeface="Helvetica World" panose="020B0500040000020004" charset="-122"/>
              </a:rPr>
              <a:t>triển</a:t>
            </a:r>
            <a:r>
              <a:rPr lang="en-US" sz="3600" dirty="0">
                <a:solidFill>
                  <a:srgbClr val="FFFFFF"/>
                </a:solidFill>
                <a:latin typeface="Helvetica World" panose="020B0500040000020004" charset="-122"/>
                <a:ea typeface="Helvetica World" panose="020B0500040000020004" charset="-122"/>
                <a:cs typeface="Helvetica World" panose="020B0500040000020004" charset="-122"/>
                <a:sym typeface="Helvetica World" panose="020B0500040000020004" charset="-122"/>
              </a:rPr>
              <a:t> </a:t>
            </a:r>
            <a:r>
              <a:rPr lang="en-US" sz="3600" dirty="0" err="1">
                <a:solidFill>
                  <a:srgbClr val="FFFFFF"/>
                </a:solidFill>
                <a:latin typeface="Helvetica World" panose="020B0500040000020004" charset="-122"/>
                <a:ea typeface="Helvetica World" panose="020B0500040000020004" charset="-122"/>
                <a:cs typeface="Helvetica World" panose="020B0500040000020004" charset="-122"/>
                <a:sym typeface="Helvetica World" panose="020B0500040000020004" charset="-122"/>
              </a:rPr>
              <a:t>khai</a:t>
            </a:r>
            <a:r>
              <a:rPr lang="en-US" sz="3600" dirty="0">
                <a:solidFill>
                  <a:srgbClr val="FFFFFF"/>
                </a:solidFill>
                <a:latin typeface="Helvetica World" panose="020B0500040000020004" charset="-122"/>
                <a:ea typeface="Helvetica World" panose="020B0500040000020004" charset="-122"/>
                <a:cs typeface="Helvetica World" panose="020B0500040000020004" charset="-122"/>
                <a:sym typeface="Helvetica World" panose="020B0500040000020004" charset="-122"/>
              </a:rPr>
              <a:t> </a:t>
            </a:r>
            <a:r>
              <a:rPr lang="en-US" sz="3600" dirty="0" err="1">
                <a:solidFill>
                  <a:srgbClr val="FFFFFF"/>
                </a:solidFill>
                <a:latin typeface="Helvetica World" panose="020B0500040000020004" charset="-122"/>
                <a:ea typeface="Helvetica World" panose="020B0500040000020004" charset="-122"/>
                <a:cs typeface="Helvetica World" panose="020B0500040000020004" charset="-122"/>
                <a:sym typeface="Helvetica World" panose="020B0500040000020004" charset="-122"/>
              </a:rPr>
              <a:t>ứng</a:t>
            </a:r>
            <a:r>
              <a:rPr lang="en-US" sz="3600" dirty="0">
                <a:solidFill>
                  <a:srgbClr val="FFFFFF"/>
                </a:solidFill>
                <a:latin typeface="Helvetica World" panose="020B0500040000020004" charset="-122"/>
                <a:ea typeface="Helvetica World" panose="020B0500040000020004" charset="-122"/>
                <a:cs typeface="Helvetica World" panose="020B0500040000020004" charset="-122"/>
                <a:sym typeface="Helvetica World" panose="020B0500040000020004" charset="-122"/>
              </a:rPr>
              <a:t> dung </a:t>
            </a:r>
            <a:r>
              <a:rPr lang="en-US" sz="3600" dirty="0" err="1">
                <a:solidFill>
                  <a:srgbClr val="FFFFFF"/>
                </a:solidFill>
                <a:latin typeface="Helvetica World" panose="020B0500040000020004" charset="-122"/>
                <a:ea typeface="Helvetica World" panose="020B0500040000020004" charset="-122"/>
                <a:cs typeface="Helvetica World" panose="020B0500040000020004" charset="-122"/>
                <a:sym typeface="Helvetica World" panose="020B0500040000020004" charset="-122"/>
              </a:rPr>
              <a:t>thông</a:t>
            </a:r>
            <a:r>
              <a:rPr lang="en-US" sz="3600" dirty="0">
                <a:solidFill>
                  <a:srgbClr val="FFFFFF"/>
                </a:solidFill>
                <a:latin typeface="Helvetica World" panose="020B0500040000020004" charset="-122"/>
                <a:ea typeface="Helvetica World" panose="020B0500040000020004" charset="-122"/>
                <a:cs typeface="Helvetica World" panose="020B0500040000020004" charset="-122"/>
                <a:sym typeface="Helvetica World" panose="020B0500040000020004" charset="-122"/>
              </a:rPr>
              <a:t> qua </a:t>
            </a:r>
            <a:r>
              <a:rPr lang="en-US" sz="3600" dirty="0" err="1">
                <a:solidFill>
                  <a:srgbClr val="FFFFFF"/>
                </a:solidFill>
                <a:latin typeface="Helvetica World" panose="020B0500040000020004" charset="-122"/>
                <a:ea typeface="Helvetica World" panose="020B0500040000020004" charset="-122"/>
                <a:cs typeface="Helvetica World" panose="020B0500040000020004" charset="-122"/>
                <a:sym typeface="Helvetica World" panose="020B0500040000020004" charset="-122"/>
              </a:rPr>
              <a:t>các</a:t>
            </a:r>
            <a:r>
              <a:rPr lang="en-US" sz="3600" dirty="0">
                <a:solidFill>
                  <a:srgbClr val="FFFFFF"/>
                </a:solidFill>
                <a:latin typeface="Helvetica World" panose="020B0500040000020004" charset="-122"/>
                <a:ea typeface="Helvetica World" panose="020B0500040000020004" charset="-122"/>
                <a:cs typeface="Helvetica World" panose="020B0500040000020004" charset="-122"/>
                <a:sym typeface="Helvetica World" panose="020B0500040000020004" charset="-122"/>
              </a:rPr>
              <a:t> </a:t>
            </a:r>
            <a:r>
              <a:rPr lang="vi-VN" altLang="en-US" sz="3600" dirty="0">
                <a:solidFill>
                  <a:srgbClr val="FFFFFF"/>
                </a:solidFill>
                <a:latin typeface="Helvetica World" panose="020B0500040000020004" charset="-122"/>
                <a:ea typeface="Helvetica World" panose="020B0500040000020004" charset="-122"/>
                <a:cs typeface="Helvetica World" panose="020B0500040000020004" charset="-122"/>
                <a:sym typeface="Helvetica World" panose="020B0500040000020004" charset="-122"/>
              </a:rPr>
              <a:t>container</a:t>
            </a:r>
            <a:endParaRPr lang="vi-VN" altLang="en-US" sz="3600" dirty="0">
              <a:solidFill>
                <a:srgbClr val="FFFFFF"/>
              </a:solidFill>
              <a:latin typeface="Helvetica World" panose="020B0500040000020004" charset="-122"/>
              <a:ea typeface="Helvetica World" panose="020B0500040000020004" charset="-122"/>
              <a:cs typeface="Helvetica World" panose="020B0500040000020004" charset="-122"/>
              <a:sym typeface="Helvetica World" panose="020B0500040000020004" charset="-122"/>
            </a:endParaRP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7481" y="675649"/>
            <a:ext cx="3038915" cy="2381561"/>
          </a:xfrm>
          <a:prstGeom prst="rect">
            <a:avLst/>
          </a:prstGeom>
        </p:spPr>
      </p:pic>
      <p:pic>
        <p:nvPicPr>
          <p:cNvPr id="32" name="Picture 3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3275" y="2973729"/>
            <a:ext cx="10525258" cy="44957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l="-5556" r="-9016" b="-11899"/>
            </a:stretch>
          </a:blipFill>
        </p:spPr>
        <p:txBody>
          <a:bodyPr/>
          <a:lstStyle/>
          <a:p>
            <a:endParaRPr lang="vi-VN" dirty="0"/>
          </a:p>
        </p:txBody>
      </p:sp>
      <p:sp>
        <p:nvSpPr>
          <p:cNvPr id="3" name="TextBox 3"/>
          <p:cNvSpPr txBox="1"/>
          <p:nvPr/>
        </p:nvSpPr>
        <p:spPr>
          <a:xfrm>
            <a:off x="1028700" y="3056744"/>
            <a:ext cx="11315700" cy="31162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140"/>
              </a:lnSpc>
            </a:pPr>
            <a:r>
              <a:rPr lang="en-US" sz="7205" dirty="0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HADOOP MULTI CLUSTER BUILDING</a:t>
            </a:r>
            <a:endParaRPr lang="en-US" sz="7205" dirty="0">
              <a:solidFill>
                <a:srgbClr val="FFFFFF"/>
              </a:solidFill>
              <a:latin typeface="Mokoto"/>
              <a:ea typeface="Mokoto"/>
              <a:cs typeface="Mokoto"/>
              <a:sym typeface="Mokoto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4068443" y="828321"/>
            <a:ext cx="3190857" cy="421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200"/>
              </a:lnSpc>
              <a:spcBef>
                <a:spcPct val="0"/>
              </a:spcBef>
            </a:pPr>
            <a:r>
              <a:rPr lang="en-US" sz="3200" b="1" spc="-96" dirty="0">
                <a:solidFill>
                  <a:srgbClr val="FFFFFF"/>
                </a:solidFill>
                <a:latin typeface="Helvetica World Bold" panose="020B0800040000020004" charset="-122"/>
                <a:ea typeface="Helvetica World Bold" panose="020B0800040000020004" charset="-122"/>
                <a:cs typeface="Helvetica World Bold" panose="020B0800040000020004" charset="-122"/>
                <a:sym typeface="Helvetica World Bold" panose="020B0800040000020004" charset="-122"/>
              </a:rPr>
              <a:t>Slide 04</a:t>
            </a:r>
            <a:endParaRPr lang="en-US" sz="3200" b="1" spc="-96" dirty="0">
              <a:solidFill>
                <a:srgbClr val="FFFFFF"/>
              </a:solidFill>
              <a:latin typeface="Helvetica World Bold" panose="020B0800040000020004" charset="-122"/>
              <a:ea typeface="Helvetica World Bold" panose="020B0800040000020004" charset="-122"/>
              <a:cs typeface="Helvetica World Bold" panose="020B0800040000020004" charset="-122"/>
              <a:sym typeface="Helvetica World Bold" panose="020B0800040000020004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14068443" y="1479511"/>
            <a:ext cx="3190857" cy="0"/>
          </a:xfrm>
          <a:prstGeom prst="line">
            <a:avLst/>
          </a:prstGeom>
          <a:ln w="19050" cap="flat">
            <a:solidFill>
              <a:srgbClr val="ADFDFF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15" name="3D Model 14" descr="Earth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8479" y="6357801"/>
            <a:ext cx="3130781" cy="31307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5"/>
          <p:cNvSpPr txBox="1"/>
          <p:nvPr/>
        </p:nvSpPr>
        <p:spPr>
          <a:xfrm>
            <a:off x="5844136" y="8376767"/>
            <a:ext cx="4967787" cy="8313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00"/>
              </a:lnSpc>
              <a:spcBef>
                <a:spcPct val="0"/>
              </a:spcBef>
            </a:pPr>
            <a:r>
              <a:rPr lang="en-US" sz="3200" b="1" spc="-96" dirty="0">
                <a:solidFill>
                  <a:srgbClr val="FFFFFF"/>
                </a:solidFill>
                <a:latin typeface="Helvetica World Bold" panose="020B0800040000020004" charset="-122"/>
                <a:ea typeface="Helvetica World Bold" panose="020B0800040000020004" charset="-122"/>
                <a:cs typeface="Helvetica World Bold" panose="020B0800040000020004" charset="-122"/>
                <a:sym typeface="Helvetica World Bold" panose="020B0800040000020004" charset="-122"/>
              </a:rPr>
              <a:t>HADOOP WITH VISUALIZATION</a:t>
            </a:r>
            <a:endParaRPr lang="en-US" sz="3200" b="1" spc="-96" dirty="0">
              <a:solidFill>
                <a:srgbClr val="FFFFFF"/>
              </a:solidFill>
              <a:latin typeface="Helvetica World Bold" panose="020B0800040000020004" charset="-122"/>
              <a:ea typeface="Helvetica World Bold" panose="020B0800040000020004" charset="-122"/>
              <a:cs typeface="Helvetica World Bold" panose="020B0800040000020004" charset="-122"/>
              <a:sym typeface="Helvetica World Bold" panose="020B0800040000020004" charset="-122"/>
            </a:endParaRPr>
          </a:p>
        </p:txBody>
      </p:sp>
      <p:sp>
        <p:nvSpPr>
          <p:cNvPr id="12" name="TextBox 7"/>
          <p:cNvSpPr txBox="1"/>
          <p:nvPr/>
        </p:nvSpPr>
        <p:spPr>
          <a:xfrm>
            <a:off x="11045092" y="828321"/>
            <a:ext cx="3190857" cy="471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200"/>
              </a:lnSpc>
              <a:spcBef>
                <a:spcPct val="0"/>
              </a:spcBef>
            </a:pPr>
            <a:r>
              <a:rPr lang="en-US" sz="3200" b="1" spc="-96" dirty="0">
                <a:solidFill>
                  <a:srgbClr val="FFFFFF"/>
                </a:solidFill>
                <a:latin typeface="Helvetica World Bold" panose="020B0800040000020004" charset="-122"/>
                <a:ea typeface="Helvetica World Bold" panose="020B0800040000020004" charset="-122"/>
                <a:cs typeface="Helvetica World Bold" panose="020B0800040000020004" charset="-122"/>
                <a:sym typeface="Helvetica World Bold" panose="020B0800040000020004" charset="-122"/>
              </a:rPr>
              <a:t>Slide 03</a:t>
            </a:r>
            <a:endParaRPr lang="en-US" sz="3200" b="1" spc="-96" dirty="0">
              <a:solidFill>
                <a:srgbClr val="FFFFFF"/>
              </a:solidFill>
              <a:latin typeface="Helvetica World Bold" panose="020B0800040000020004" charset="-122"/>
              <a:ea typeface="Helvetica World Bold" panose="020B0800040000020004" charset="-122"/>
              <a:cs typeface="Helvetica World Bold" panose="020B0800040000020004" charset="-122"/>
              <a:sym typeface="Helvetica World Bold" panose="020B0800040000020004" charset="-122"/>
            </a:endParaRPr>
          </a:p>
        </p:txBody>
      </p:sp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18518"/>
            </a:stretch>
          </a:blipFill>
        </p:spPr>
        <p:txBody>
          <a:bodyPr/>
          <a:lstStyle/>
          <a:p>
            <a:endParaRPr lang="vi-VN"/>
          </a:p>
        </p:txBody>
      </p:sp>
      <p:sp>
        <p:nvSpPr>
          <p:cNvPr id="3" name="TextBox 3"/>
          <p:cNvSpPr txBox="1"/>
          <p:nvPr/>
        </p:nvSpPr>
        <p:spPr>
          <a:xfrm>
            <a:off x="1028700" y="3362072"/>
            <a:ext cx="10344666" cy="1045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40"/>
              </a:lnSpc>
            </a:pPr>
            <a:r>
              <a:rPr lang="en-US" sz="7205" dirty="0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METHOD 1:</a:t>
            </a:r>
            <a:endParaRPr lang="en-US" sz="7205" dirty="0">
              <a:solidFill>
                <a:srgbClr val="FFFFFF"/>
              </a:solidFill>
              <a:latin typeface="Mokoto"/>
              <a:ea typeface="Mokoto"/>
              <a:cs typeface="Mokoto"/>
              <a:sym typeface="Mokoto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4068443" y="828321"/>
            <a:ext cx="3190857" cy="421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200"/>
              </a:lnSpc>
              <a:spcBef>
                <a:spcPct val="0"/>
              </a:spcBef>
            </a:pPr>
            <a:r>
              <a:rPr lang="en-US" sz="3200" b="1" spc="-96" dirty="0">
                <a:solidFill>
                  <a:srgbClr val="FFFFFF"/>
                </a:solidFill>
                <a:latin typeface="Helvetica World Bold" panose="020B0800040000020004" charset="-122"/>
                <a:ea typeface="Helvetica World Bold" panose="020B0800040000020004" charset="-122"/>
                <a:cs typeface="Helvetica World Bold" panose="020B0800040000020004" charset="-122"/>
                <a:sym typeface="Helvetica World Bold" panose="020B0800040000020004" charset="-122"/>
              </a:rPr>
              <a:t>Slide 05</a:t>
            </a:r>
            <a:endParaRPr lang="en-US" sz="3200" b="1" spc="-96" dirty="0">
              <a:solidFill>
                <a:srgbClr val="FFFFFF"/>
              </a:solidFill>
              <a:latin typeface="Helvetica World Bold" panose="020B0800040000020004" charset="-122"/>
              <a:ea typeface="Helvetica World Bold" panose="020B0800040000020004" charset="-122"/>
              <a:cs typeface="Helvetica World Bold" panose="020B0800040000020004" charset="-122"/>
              <a:sym typeface="Helvetica World Bold" panose="020B0800040000020004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14068443" y="1479511"/>
            <a:ext cx="3190857" cy="0"/>
          </a:xfrm>
          <a:prstGeom prst="line">
            <a:avLst/>
          </a:prstGeom>
          <a:ln w="19050" cap="flat">
            <a:solidFill>
              <a:srgbClr val="ADFD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TextBox 9"/>
          <p:cNvSpPr txBox="1"/>
          <p:nvPr/>
        </p:nvSpPr>
        <p:spPr>
          <a:xfrm>
            <a:off x="13563371" y="8866201"/>
            <a:ext cx="3695929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880"/>
              </a:lnSpc>
            </a:pPr>
            <a:r>
              <a:rPr lang="en-US" sz="2400">
                <a:solidFill>
                  <a:srgbClr val="FFFFFF"/>
                </a:solidFill>
                <a:latin typeface="Helvetica World" panose="020B0500040000020004" charset="-122"/>
                <a:ea typeface="Helvetica World" panose="020B0500040000020004" charset="-122"/>
                <a:cs typeface="Helvetica World" panose="020B0500040000020004" charset="-122"/>
                <a:sym typeface="Helvetica World" panose="020B0500040000020004" charset="-122"/>
              </a:rPr>
              <a:t>@reallygreatsite</a:t>
            </a:r>
            <a:endParaRPr lang="en-US" sz="2400">
              <a:solidFill>
                <a:srgbClr val="FFFFFF"/>
              </a:solidFill>
              <a:latin typeface="Helvetica World" panose="020B0500040000020004" charset="-122"/>
              <a:ea typeface="Helvetica World" panose="020B0500040000020004" charset="-122"/>
              <a:cs typeface="Helvetica World" panose="020B0500040000020004" charset="-122"/>
              <a:sym typeface="Helvetica World" panose="020B0500040000020004" charset="-122"/>
            </a:endParaRPr>
          </a:p>
        </p:txBody>
      </p:sp>
      <p:pic>
        <p:nvPicPr>
          <p:cNvPr id="13" name="3D Model 12" descr="Earth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98480" y="6329640"/>
            <a:ext cx="3130782" cy="3130782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128426" y="5560199"/>
            <a:ext cx="810155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4400" dirty="0">
                <a:solidFill>
                  <a:schemeClr val="bg1"/>
                </a:solidFill>
              </a:rPr>
              <a:t>Bare metals </a:t>
            </a:r>
            <a:endParaRPr lang="vi-VN" sz="4400" dirty="0">
              <a:solidFill>
                <a:schemeClr val="bg1"/>
              </a:solidFill>
            </a:endParaRPr>
          </a:p>
        </p:txBody>
      </p:sp>
      <p:pic>
        <p:nvPicPr>
          <p:cNvPr id="31" name="Picture 3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3309613" y="10760544"/>
            <a:ext cx="12098005" cy="691314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900" decel="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14068443" y="828321"/>
            <a:ext cx="3190857" cy="471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200"/>
              </a:lnSpc>
              <a:spcBef>
                <a:spcPct val="0"/>
              </a:spcBef>
            </a:pPr>
            <a:r>
              <a:rPr lang="en-US" sz="3200" b="1" spc="-96">
                <a:solidFill>
                  <a:srgbClr val="FFFFFF"/>
                </a:solidFill>
                <a:latin typeface="Helvetica World Bold" panose="020B0800040000020004" charset="-122"/>
                <a:ea typeface="Helvetica World Bold" panose="020B0800040000020004" charset="-122"/>
                <a:cs typeface="Helvetica World Bold" panose="020B0800040000020004" charset="-122"/>
                <a:sym typeface="Helvetica World Bold" panose="020B0800040000020004" charset="-122"/>
              </a:rPr>
              <a:t>Slide 06</a:t>
            </a:r>
            <a:endParaRPr lang="en-US" sz="3200" b="1" spc="-96">
              <a:solidFill>
                <a:srgbClr val="FFFFFF"/>
              </a:solidFill>
              <a:latin typeface="Helvetica World Bold" panose="020B0800040000020004" charset="-122"/>
              <a:ea typeface="Helvetica World Bold" panose="020B0800040000020004" charset="-122"/>
              <a:cs typeface="Helvetica World Bold" panose="020B0800040000020004" charset="-122"/>
              <a:sym typeface="Helvetica World Bold" panose="020B0800040000020004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14068443" y="1479511"/>
            <a:ext cx="3190857" cy="0"/>
          </a:xfrm>
          <a:prstGeom prst="line">
            <a:avLst/>
          </a:prstGeom>
          <a:ln w="19050" cap="flat">
            <a:solidFill>
              <a:srgbClr val="ADFDFF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4997" y="1686927"/>
            <a:ext cx="12098005" cy="6913145"/>
          </a:xfrm>
          <a:prstGeom prst="rect">
            <a:avLst/>
          </a:prstGeom>
        </p:spPr>
      </p:pic>
      <p:sp>
        <p:nvSpPr>
          <p:cNvPr id="9" name="TextBox 3"/>
          <p:cNvSpPr txBox="1"/>
          <p:nvPr/>
        </p:nvSpPr>
        <p:spPr>
          <a:xfrm rot="16200000">
            <a:off x="-6913751" y="3699728"/>
            <a:ext cx="12129424" cy="1045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40"/>
              </a:lnSpc>
            </a:pPr>
            <a:r>
              <a:rPr lang="en-US" sz="7205" dirty="0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METHOD 2:</a:t>
            </a:r>
            <a:endParaRPr lang="en-US" sz="7205" dirty="0">
              <a:solidFill>
                <a:srgbClr val="FFFFFF"/>
              </a:solidFill>
              <a:latin typeface="Mokoto"/>
              <a:ea typeface="Mokoto"/>
              <a:cs typeface="Mokoto"/>
              <a:sym typeface="Mokoto"/>
            </a:endParaRPr>
          </a:p>
        </p:txBody>
      </p:sp>
      <p:sp>
        <p:nvSpPr>
          <p:cNvPr id="12" name="TextBox 11"/>
          <p:cNvSpPr txBox="1"/>
          <p:nvPr/>
        </p:nvSpPr>
        <p:spPr>
          <a:xfrm rot="5400000">
            <a:off x="14948419" y="6599758"/>
            <a:ext cx="810155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4400" dirty="0">
                <a:solidFill>
                  <a:schemeClr val="bg1"/>
                </a:solidFill>
              </a:rPr>
              <a:t>Virtuals machines</a:t>
            </a:r>
            <a:endParaRPr lang="vi-VN" sz="4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9333" b="-9333"/>
            </a:stretch>
          </a:blipFill>
        </p:spPr>
        <p:txBody>
          <a:bodyPr/>
          <a:lstStyle/>
          <a:p>
            <a:endParaRPr lang="vi-VN" dirty="0"/>
          </a:p>
        </p:txBody>
      </p:sp>
      <p:sp>
        <p:nvSpPr>
          <p:cNvPr id="3" name="TextBox 3"/>
          <p:cNvSpPr txBox="1"/>
          <p:nvPr/>
        </p:nvSpPr>
        <p:spPr>
          <a:xfrm>
            <a:off x="1022838" y="2430462"/>
            <a:ext cx="12129424" cy="1045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40"/>
              </a:lnSpc>
            </a:pPr>
            <a:r>
              <a:rPr lang="en-US" sz="7205" dirty="0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METHOD 2:</a:t>
            </a:r>
            <a:endParaRPr lang="en-US" sz="7205" dirty="0">
              <a:solidFill>
                <a:srgbClr val="FFFFFF"/>
              </a:solidFill>
              <a:latin typeface="Mokoto"/>
              <a:ea typeface="Mokoto"/>
              <a:cs typeface="Mokoto"/>
              <a:sym typeface="Mokoto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1028700" y="9248775"/>
            <a:ext cx="3190857" cy="0"/>
          </a:xfrm>
          <a:prstGeom prst="line">
            <a:avLst/>
          </a:prstGeom>
          <a:ln w="19050" cap="flat">
            <a:solidFill>
              <a:srgbClr val="ADFD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4068443" y="828321"/>
            <a:ext cx="3190857" cy="421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200"/>
              </a:lnSpc>
              <a:spcBef>
                <a:spcPct val="0"/>
              </a:spcBef>
            </a:pPr>
            <a:r>
              <a:rPr lang="en-US" sz="3200" b="1" spc="-96" dirty="0">
                <a:solidFill>
                  <a:srgbClr val="FFFFFF"/>
                </a:solidFill>
                <a:latin typeface="Helvetica World Bold" panose="020B0800040000020004" charset="-122"/>
                <a:ea typeface="Helvetica World Bold" panose="020B0800040000020004" charset="-122"/>
                <a:cs typeface="Helvetica World Bold" panose="020B0800040000020004" charset="-122"/>
                <a:sym typeface="Helvetica World Bold" panose="020B0800040000020004" charset="-122"/>
              </a:rPr>
              <a:t>Slide 07</a:t>
            </a:r>
            <a:endParaRPr lang="en-US" sz="3200" b="1" spc="-96" dirty="0">
              <a:solidFill>
                <a:srgbClr val="FFFFFF"/>
              </a:solidFill>
              <a:latin typeface="Helvetica World Bold" panose="020B0800040000020004" charset="-122"/>
              <a:ea typeface="Helvetica World Bold" panose="020B0800040000020004" charset="-122"/>
              <a:cs typeface="Helvetica World Bold" panose="020B0800040000020004" charset="-122"/>
              <a:sym typeface="Helvetica World Bold" panose="020B0800040000020004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14068443" y="1479511"/>
            <a:ext cx="3190857" cy="0"/>
          </a:xfrm>
          <a:prstGeom prst="line">
            <a:avLst/>
          </a:prstGeom>
          <a:ln w="19050" cap="flat">
            <a:solidFill>
              <a:srgbClr val="ADFD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TextBox 16"/>
          <p:cNvSpPr txBox="1"/>
          <p:nvPr/>
        </p:nvSpPr>
        <p:spPr>
          <a:xfrm>
            <a:off x="1028700" y="5143500"/>
            <a:ext cx="810155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4400" dirty="0">
                <a:solidFill>
                  <a:schemeClr val="bg1"/>
                </a:solidFill>
              </a:rPr>
              <a:t>Virtuals machines</a:t>
            </a:r>
            <a:endParaRPr lang="vi-VN" sz="4400" dirty="0">
              <a:solidFill>
                <a:schemeClr val="bg1"/>
              </a:solidFill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5196" y="-5642010"/>
            <a:ext cx="5702831" cy="5702831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78200" y="1725507"/>
            <a:ext cx="10530700" cy="5913636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734447" y="3858976"/>
            <a:ext cx="4991365" cy="33384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6"/>
          <p:cNvSpPr/>
          <p:nvPr/>
        </p:nvSpPr>
        <p:spPr>
          <a:xfrm>
            <a:off x="1028700" y="9248775"/>
            <a:ext cx="3190857" cy="0"/>
          </a:xfrm>
          <a:prstGeom prst="line">
            <a:avLst/>
          </a:prstGeom>
          <a:ln w="19050" cap="flat">
            <a:solidFill>
              <a:srgbClr val="ADFD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4068443" y="828321"/>
            <a:ext cx="3190857" cy="471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200"/>
              </a:lnSpc>
              <a:spcBef>
                <a:spcPct val="0"/>
              </a:spcBef>
            </a:pPr>
            <a:r>
              <a:rPr lang="en-US" sz="3200" b="1" spc="-96" dirty="0">
                <a:solidFill>
                  <a:srgbClr val="FFFFFF"/>
                </a:solidFill>
                <a:latin typeface="Helvetica World Bold" panose="020B0800040000020004" charset="-122"/>
                <a:ea typeface="Helvetica World Bold" panose="020B0800040000020004" charset="-122"/>
                <a:cs typeface="Helvetica World Bold" panose="020B0800040000020004" charset="-122"/>
                <a:sym typeface="Helvetica World Bold" panose="020B0800040000020004" charset="-122"/>
              </a:rPr>
              <a:t>Slide 08</a:t>
            </a:r>
            <a:endParaRPr lang="en-US" sz="3200" b="1" spc="-96" dirty="0">
              <a:solidFill>
                <a:srgbClr val="FFFFFF"/>
              </a:solidFill>
              <a:latin typeface="Helvetica World Bold" panose="020B0800040000020004" charset="-122"/>
              <a:ea typeface="Helvetica World Bold" panose="020B0800040000020004" charset="-122"/>
              <a:cs typeface="Helvetica World Bold" panose="020B0800040000020004" charset="-122"/>
              <a:sym typeface="Helvetica World Bold" panose="020B0800040000020004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14068443" y="1479511"/>
            <a:ext cx="3190857" cy="0"/>
          </a:xfrm>
          <a:prstGeom prst="line">
            <a:avLst/>
          </a:prstGeom>
          <a:ln w="19050" cap="flat">
            <a:solidFill>
              <a:srgbClr val="ADFD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vi-V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1943100"/>
            <a:ext cx="5702831" cy="5702831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6996" y="1326503"/>
            <a:ext cx="10530700" cy="5913636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314700"/>
            <a:ext cx="4991365" cy="33384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5105400" y="9258300"/>
            <a:ext cx="3190857" cy="0"/>
          </a:xfrm>
          <a:prstGeom prst="line">
            <a:avLst/>
          </a:prstGeom>
          <a:ln w="19050" cap="flat">
            <a:solidFill>
              <a:srgbClr val="ADFD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>
            <a:off x="9482766" y="1257300"/>
            <a:ext cx="3190857" cy="0"/>
          </a:xfrm>
          <a:prstGeom prst="line">
            <a:avLst/>
          </a:prstGeom>
          <a:ln w="19050" cap="flat">
            <a:solidFill>
              <a:srgbClr val="ADFDFF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7123" y="1488303"/>
            <a:ext cx="7556500" cy="7464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068443" y="828321"/>
            <a:ext cx="3190857" cy="421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200"/>
              </a:lnSpc>
              <a:spcBef>
                <a:spcPct val="0"/>
              </a:spcBef>
            </a:pPr>
            <a:r>
              <a:rPr lang="en-US" sz="3200" b="1" spc="-96" dirty="0">
                <a:solidFill>
                  <a:srgbClr val="FFFFFF"/>
                </a:solidFill>
                <a:latin typeface="Helvetica World Bold" panose="020B0800040000020004" charset="-122"/>
                <a:ea typeface="Helvetica World Bold" panose="020B0800040000020004" charset="-122"/>
                <a:cs typeface="Helvetica World Bold" panose="020B0800040000020004" charset="-122"/>
                <a:sym typeface="Helvetica World Bold" panose="020B0800040000020004" charset="-122"/>
              </a:rPr>
              <a:t>Slide 09</a:t>
            </a:r>
            <a:endParaRPr lang="en-US" sz="3200" b="1" spc="-96" dirty="0">
              <a:solidFill>
                <a:srgbClr val="FFFFFF"/>
              </a:solidFill>
              <a:latin typeface="Helvetica World Bold" panose="020B0800040000020004" charset="-122"/>
              <a:ea typeface="Helvetica World Bold" panose="020B0800040000020004" charset="-122"/>
              <a:cs typeface="Helvetica World Bold" panose="020B0800040000020004" charset="-122"/>
              <a:sym typeface="Helvetica World Bold" panose="020B0800040000020004" charset="-122"/>
            </a:endParaRPr>
          </a:p>
        </p:txBody>
      </p:sp>
      <p:sp>
        <p:nvSpPr>
          <p:cNvPr id="11" name="TextBox 3"/>
          <p:cNvSpPr txBox="1"/>
          <p:nvPr/>
        </p:nvSpPr>
        <p:spPr>
          <a:xfrm>
            <a:off x="461683" y="443182"/>
            <a:ext cx="9287433" cy="1045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40"/>
              </a:lnSpc>
            </a:pPr>
            <a:r>
              <a:rPr lang="en-US" sz="7205" dirty="0">
                <a:latin typeface="Mokoto"/>
                <a:ea typeface="Mokoto"/>
                <a:cs typeface="Mokoto"/>
                <a:sym typeface="Mokoto"/>
              </a:rPr>
              <a:t>METHOD 3</a:t>
            </a:r>
            <a:endParaRPr lang="en-US" sz="7205" dirty="0">
              <a:latin typeface="Mokoto"/>
              <a:ea typeface="Mokoto"/>
              <a:cs typeface="Mokoto"/>
              <a:sym typeface="Mokoto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4478000" y="8898881"/>
            <a:ext cx="81015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5400" dirty="0"/>
              <a:t>Docker!</a:t>
            </a:r>
            <a:endParaRPr lang="vi-VN" sz="54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3333" b="-3333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99392" y="3253671"/>
            <a:ext cx="9287433" cy="1045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40"/>
              </a:lnSpc>
            </a:pPr>
            <a:r>
              <a:rPr lang="en-US" sz="7205" dirty="0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METHOD 3</a:t>
            </a:r>
            <a:endParaRPr lang="en-US" sz="7205" dirty="0">
              <a:solidFill>
                <a:srgbClr val="FFFFFF"/>
              </a:solidFill>
              <a:latin typeface="Mokoto"/>
              <a:ea typeface="Mokoto"/>
              <a:cs typeface="Mokoto"/>
              <a:sym typeface="Mokoto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1028700" y="9248775"/>
            <a:ext cx="3190857" cy="0"/>
          </a:xfrm>
          <a:prstGeom prst="line">
            <a:avLst/>
          </a:prstGeom>
          <a:ln w="19050" cap="flat">
            <a:solidFill>
              <a:srgbClr val="ADFD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4068443" y="828321"/>
            <a:ext cx="3190857" cy="421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200"/>
              </a:lnSpc>
              <a:spcBef>
                <a:spcPct val="0"/>
              </a:spcBef>
            </a:pPr>
            <a:r>
              <a:rPr lang="en-US" sz="3200" b="1" spc="-96" dirty="0">
                <a:solidFill>
                  <a:srgbClr val="FFFFFF"/>
                </a:solidFill>
                <a:latin typeface="Helvetica World Bold" panose="020B0800040000020004" charset="-122"/>
                <a:ea typeface="Helvetica World Bold" panose="020B0800040000020004" charset="-122"/>
                <a:cs typeface="Helvetica World Bold" panose="020B0800040000020004" charset="-122"/>
                <a:sym typeface="Helvetica World Bold" panose="020B0800040000020004" charset="-122"/>
              </a:rPr>
              <a:t>Slide 10</a:t>
            </a:r>
            <a:endParaRPr lang="en-US" sz="3200" b="1" spc="-96" dirty="0">
              <a:solidFill>
                <a:srgbClr val="FFFFFF"/>
              </a:solidFill>
              <a:latin typeface="Helvetica World Bold" panose="020B0800040000020004" charset="-122"/>
              <a:ea typeface="Helvetica World Bold" panose="020B0800040000020004" charset="-122"/>
              <a:cs typeface="Helvetica World Bold" panose="020B0800040000020004" charset="-122"/>
              <a:sym typeface="Helvetica World Bold" panose="020B0800040000020004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14068443" y="1479511"/>
            <a:ext cx="3190857" cy="0"/>
          </a:xfrm>
          <a:prstGeom prst="line">
            <a:avLst/>
          </a:prstGeom>
          <a:ln w="19050" cap="flat">
            <a:solidFill>
              <a:srgbClr val="ADFD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TextBox 11"/>
          <p:cNvSpPr txBox="1"/>
          <p:nvPr/>
        </p:nvSpPr>
        <p:spPr>
          <a:xfrm>
            <a:off x="1028700" y="5143500"/>
            <a:ext cx="810155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5400" dirty="0">
                <a:solidFill>
                  <a:schemeClr val="bg1"/>
                </a:solidFill>
              </a:rPr>
              <a:t>Docker!</a:t>
            </a:r>
            <a:endParaRPr lang="vi-VN" sz="5400" dirty="0">
              <a:solidFill>
                <a:schemeClr val="bg1"/>
              </a:solidFill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8288000" y="1432591"/>
            <a:ext cx="7391400" cy="742181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73000" y="1249334"/>
            <a:ext cx="7391400" cy="742181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0483146" y="3759598"/>
            <a:ext cx="78486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4400" dirty="0">
                <a:solidFill>
                  <a:schemeClr val="bg1"/>
                </a:solidFill>
              </a:rPr>
              <a:t>Đóng gói ứng dụng cùng tất cả các thư viện, cấu hình vào một môi trường duy nhất</a:t>
            </a:r>
            <a:endParaRPr lang="vi-VN" sz="4400" dirty="0">
              <a:solidFill>
                <a:schemeClr val="bg1"/>
              </a:solidFill>
            </a:endParaRPr>
          </a:p>
        </p:txBody>
      </p:sp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333" b="-3333"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1028700" y="9248775"/>
            <a:ext cx="3190857" cy="0"/>
          </a:xfrm>
          <a:prstGeom prst="line">
            <a:avLst/>
          </a:prstGeom>
          <a:ln w="19050" cap="flat">
            <a:solidFill>
              <a:srgbClr val="ADFD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4068443" y="828321"/>
            <a:ext cx="3190857" cy="421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200"/>
              </a:lnSpc>
              <a:spcBef>
                <a:spcPct val="0"/>
              </a:spcBef>
            </a:pPr>
            <a:r>
              <a:rPr lang="en-US" sz="3200" b="1" spc="-96" dirty="0">
                <a:solidFill>
                  <a:srgbClr val="FFFFFF"/>
                </a:solidFill>
                <a:latin typeface="Helvetica World Bold" panose="020B0800040000020004" charset="-122"/>
                <a:ea typeface="Helvetica World Bold" panose="020B0800040000020004" charset="-122"/>
                <a:cs typeface="Helvetica World Bold" panose="020B0800040000020004" charset="-122"/>
                <a:sym typeface="Helvetica World Bold" panose="020B0800040000020004" charset="-122"/>
              </a:rPr>
              <a:t>Slide 11</a:t>
            </a:r>
            <a:endParaRPr lang="en-US" sz="3200" b="1" spc="-96" dirty="0">
              <a:solidFill>
                <a:srgbClr val="FFFFFF"/>
              </a:solidFill>
              <a:latin typeface="Helvetica World Bold" panose="020B0800040000020004" charset="-122"/>
              <a:ea typeface="Helvetica World Bold" panose="020B0800040000020004" charset="-122"/>
              <a:cs typeface="Helvetica World Bold" panose="020B0800040000020004" charset="-122"/>
              <a:sym typeface="Helvetica World Bold" panose="020B0800040000020004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14068443" y="1479511"/>
            <a:ext cx="3190857" cy="0"/>
          </a:xfrm>
          <a:prstGeom prst="line">
            <a:avLst/>
          </a:prstGeom>
          <a:ln w="19050" cap="flat">
            <a:solidFill>
              <a:srgbClr val="ADFDFF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7995" y="1479550"/>
            <a:ext cx="6303010" cy="73088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143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3333" b="-3333"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1028700" y="9248775"/>
            <a:ext cx="3190857" cy="0"/>
          </a:xfrm>
          <a:prstGeom prst="line">
            <a:avLst/>
          </a:prstGeom>
          <a:ln w="19050" cap="flat">
            <a:solidFill>
              <a:srgbClr val="ADFD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4068443" y="828321"/>
            <a:ext cx="3190857" cy="421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200"/>
              </a:lnSpc>
              <a:spcBef>
                <a:spcPct val="0"/>
              </a:spcBef>
            </a:pPr>
            <a:r>
              <a:rPr lang="en-US" sz="3200" b="1" spc="-96" dirty="0">
                <a:solidFill>
                  <a:srgbClr val="FFFFFF"/>
                </a:solidFill>
                <a:latin typeface="Helvetica World Bold" panose="020B0800040000020004" charset="-122"/>
                <a:ea typeface="Helvetica World Bold" panose="020B0800040000020004" charset="-122"/>
                <a:cs typeface="Helvetica World Bold" panose="020B0800040000020004" charset="-122"/>
                <a:sym typeface="Helvetica World Bold" panose="020B0800040000020004" charset="-122"/>
              </a:rPr>
              <a:t>Slide 12</a:t>
            </a:r>
            <a:endParaRPr lang="en-US" sz="3200" b="1" spc="-96" dirty="0">
              <a:solidFill>
                <a:srgbClr val="FFFFFF"/>
              </a:solidFill>
              <a:latin typeface="Helvetica World Bold" panose="020B0800040000020004" charset="-122"/>
              <a:ea typeface="Helvetica World Bold" panose="020B0800040000020004" charset="-122"/>
              <a:cs typeface="Helvetica World Bold" panose="020B0800040000020004" charset="-122"/>
              <a:sym typeface="Helvetica World Bold" panose="020B0800040000020004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14068443" y="1479511"/>
            <a:ext cx="3190857" cy="0"/>
          </a:xfrm>
          <a:prstGeom prst="line">
            <a:avLst/>
          </a:prstGeom>
          <a:ln w="19050" cap="flat">
            <a:solidFill>
              <a:srgbClr val="ADFD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TextBox 2"/>
          <p:cNvSpPr txBox="1"/>
          <p:nvPr/>
        </p:nvSpPr>
        <p:spPr>
          <a:xfrm>
            <a:off x="8915400" y="3759598"/>
            <a:ext cx="78486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4400" dirty="0">
                <a:solidFill>
                  <a:schemeClr val="bg1"/>
                </a:solidFill>
              </a:rPr>
              <a:t>Đóng gói ứng dụng cùng tất cả các thư viện, cấu hình vào một môi trường duy nhất</a:t>
            </a:r>
            <a:endParaRPr lang="vi-VN" sz="4400" dirty="0">
              <a:solidFill>
                <a:schemeClr val="bg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565321" y="1805159"/>
            <a:ext cx="13565321" cy="667668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485900"/>
            <a:ext cx="6638925" cy="73374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/>
          <p:cNvSpPr/>
          <p:nvPr/>
        </p:nvSpPr>
        <p:spPr>
          <a:xfrm>
            <a:off x="1028700" y="9248775"/>
            <a:ext cx="3190857" cy="0"/>
          </a:xfrm>
          <a:prstGeom prst="line">
            <a:avLst/>
          </a:prstGeom>
          <a:ln w="19050" cap="flat">
            <a:solidFill>
              <a:srgbClr val="ADFD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14068443" y="828321"/>
            <a:ext cx="3190857" cy="410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200"/>
              </a:lnSpc>
              <a:spcBef>
                <a:spcPct val="0"/>
              </a:spcBef>
            </a:pPr>
            <a:r>
              <a:rPr lang="en-US" sz="3200" b="1" spc="-96" dirty="0">
                <a:solidFill>
                  <a:srgbClr val="FFFFFF"/>
                </a:solidFill>
                <a:latin typeface="Helvetica World Bold" panose="020B0800040000020004" charset="-122"/>
                <a:ea typeface="Helvetica World Bold" panose="020B0800040000020004" charset="-122"/>
                <a:cs typeface="Helvetica World Bold" panose="020B0800040000020004" charset="-122"/>
                <a:sym typeface="Helvetica World Bold" panose="020B0800040000020004" charset="-122"/>
              </a:rPr>
              <a:t>Slide 1</a:t>
            </a:r>
            <a:r>
              <a:rPr lang="vi-VN" altLang="en-US" sz="3200" b="1" spc="-96" dirty="0">
                <a:solidFill>
                  <a:srgbClr val="FFFFFF"/>
                </a:solidFill>
                <a:latin typeface="Helvetica World Bold" panose="020B0800040000020004" charset="-122"/>
                <a:ea typeface="Helvetica World Bold" panose="020B0800040000020004" charset="-122"/>
                <a:cs typeface="Helvetica World Bold" panose="020B0800040000020004" charset="-122"/>
                <a:sym typeface="Helvetica World Bold" panose="020B0800040000020004" charset="-122"/>
              </a:rPr>
              <a:t>3</a:t>
            </a:r>
            <a:endParaRPr lang="vi-VN" altLang="en-US" sz="3200" b="1" spc="-96" dirty="0">
              <a:solidFill>
                <a:srgbClr val="FFFFFF"/>
              </a:solidFill>
              <a:latin typeface="Helvetica World Bold" panose="020B0800040000020004" charset="-122"/>
              <a:ea typeface="Helvetica World Bold" panose="020B0800040000020004" charset="-122"/>
              <a:cs typeface="Helvetica World Bold" panose="020B0800040000020004" charset="-122"/>
              <a:sym typeface="Helvetica World Bold" panose="020B0800040000020004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14068443" y="1479511"/>
            <a:ext cx="3190857" cy="0"/>
          </a:xfrm>
          <a:prstGeom prst="line">
            <a:avLst/>
          </a:prstGeom>
          <a:ln w="19050" cap="flat">
            <a:solidFill>
              <a:srgbClr val="ADFDFF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2923" y="1762365"/>
            <a:ext cx="13782153" cy="6762270"/>
          </a:xfrm>
          <a:prstGeom prst="rect">
            <a:avLst/>
          </a:prstGeom>
        </p:spPr>
      </p:pic>
    </p:spTree>
  </p:cSld>
  <p:clrMapOvr>
    <a:masterClrMapping/>
  </p:clrMapOvr>
  <p:transition spd="slow">
    <p:randomBar dir="vert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/>
          <p:cNvSpPr/>
          <p:nvPr/>
        </p:nvSpPr>
        <p:spPr>
          <a:xfrm>
            <a:off x="1028700" y="9248775"/>
            <a:ext cx="3190857" cy="0"/>
          </a:xfrm>
          <a:prstGeom prst="line">
            <a:avLst/>
          </a:prstGeom>
          <a:ln w="19050" cap="flat">
            <a:solidFill>
              <a:srgbClr val="ADFD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14068443" y="828321"/>
            <a:ext cx="3190857" cy="410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200"/>
              </a:lnSpc>
              <a:spcBef>
                <a:spcPct val="0"/>
              </a:spcBef>
            </a:pPr>
            <a:r>
              <a:rPr lang="en-US" sz="3200" b="1" spc="-96" dirty="0">
                <a:solidFill>
                  <a:srgbClr val="FFFFFF"/>
                </a:solidFill>
                <a:latin typeface="Helvetica World Bold" panose="020B0800040000020004" charset="-122"/>
                <a:ea typeface="Helvetica World Bold" panose="020B0800040000020004" charset="-122"/>
                <a:cs typeface="Helvetica World Bold" panose="020B0800040000020004" charset="-122"/>
                <a:sym typeface="Helvetica World Bold" panose="020B0800040000020004" charset="-122"/>
              </a:rPr>
              <a:t>Slide 1</a:t>
            </a:r>
            <a:r>
              <a:rPr lang="vi-VN" altLang="en-US" sz="3200" b="1" spc="-96" dirty="0">
                <a:solidFill>
                  <a:srgbClr val="FFFFFF"/>
                </a:solidFill>
                <a:latin typeface="Helvetica World Bold" panose="020B0800040000020004" charset="-122"/>
                <a:ea typeface="Helvetica World Bold" panose="020B0800040000020004" charset="-122"/>
                <a:cs typeface="Helvetica World Bold" panose="020B0800040000020004" charset="-122"/>
                <a:sym typeface="Helvetica World Bold" panose="020B0800040000020004" charset="-122"/>
              </a:rPr>
              <a:t>4</a:t>
            </a:r>
            <a:endParaRPr lang="vi-VN" altLang="en-US" sz="3200" b="1" spc="-96" dirty="0">
              <a:solidFill>
                <a:srgbClr val="FFFFFF"/>
              </a:solidFill>
              <a:latin typeface="Helvetica World Bold" panose="020B0800040000020004" charset="-122"/>
              <a:ea typeface="Helvetica World Bold" panose="020B0800040000020004" charset="-122"/>
              <a:cs typeface="Helvetica World Bold" panose="020B0800040000020004" charset="-122"/>
              <a:sym typeface="Helvetica World Bold" panose="020B0800040000020004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14068443" y="1479511"/>
            <a:ext cx="3190857" cy="0"/>
          </a:xfrm>
          <a:prstGeom prst="line">
            <a:avLst/>
          </a:prstGeom>
          <a:ln w="19050" cap="flat">
            <a:solidFill>
              <a:srgbClr val="ADFDFF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400" y="1945557"/>
            <a:ext cx="13565321" cy="667668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/>
          <p:cNvSpPr/>
          <p:nvPr/>
        </p:nvSpPr>
        <p:spPr>
          <a:xfrm>
            <a:off x="1028700" y="9248775"/>
            <a:ext cx="3190857" cy="0"/>
          </a:xfrm>
          <a:prstGeom prst="line">
            <a:avLst/>
          </a:prstGeom>
          <a:ln w="19050" cap="flat">
            <a:solidFill>
              <a:srgbClr val="ADFD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14068443" y="828321"/>
            <a:ext cx="3190857" cy="421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200"/>
              </a:lnSpc>
              <a:spcBef>
                <a:spcPct val="0"/>
              </a:spcBef>
            </a:pPr>
            <a:r>
              <a:rPr lang="en-US" sz="3200" b="1" spc="-96" dirty="0">
                <a:solidFill>
                  <a:srgbClr val="FFFFFF"/>
                </a:solidFill>
                <a:latin typeface="Helvetica World Bold" panose="020B0800040000020004" charset="-122"/>
                <a:ea typeface="Helvetica World Bold" panose="020B0800040000020004" charset="-122"/>
                <a:cs typeface="Helvetica World Bold" panose="020B0800040000020004" charset="-122"/>
                <a:sym typeface="Helvetica World Bold" panose="020B0800040000020004" charset="-122"/>
              </a:rPr>
              <a:t>Slide 15</a:t>
            </a:r>
            <a:endParaRPr lang="en-US" sz="3200" b="1" spc="-96" dirty="0">
              <a:solidFill>
                <a:srgbClr val="FFFFFF"/>
              </a:solidFill>
              <a:latin typeface="Helvetica World Bold" panose="020B0800040000020004" charset="-122"/>
              <a:ea typeface="Helvetica World Bold" panose="020B0800040000020004" charset="-122"/>
              <a:cs typeface="Helvetica World Bold" panose="020B0800040000020004" charset="-122"/>
              <a:sym typeface="Helvetica World Bold" panose="020B0800040000020004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14068443" y="1479511"/>
            <a:ext cx="3190857" cy="0"/>
          </a:xfrm>
          <a:prstGeom prst="line">
            <a:avLst/>
          </a:prstGeom>
          <a:ln w="19050" cap="flat">
            <a:solidFill>
              <a:srgbClr val="ADFDFF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9" name="Picture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9471" y="1913382"/>
            <a:ext cx="12344400" cy="64602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0"/>
                </a:moveTo>
                <a:lnTo>
                  <a:pt x="0" y="0"/>
                </a:lnTo>
                <a:lnTo>
                  <a:pt x="0" y="10287000"/>
                </a:lnTo>
                <a:lnTo>
                  <a:pt x="18288000" y="10287000"/>
                </a:lnTo>
                <a:lnTo>
                  <a:pt x="18288000" y="0"/>
                </a:lnTo>
                <a:close/>
              </a:path>
            </a:pathLst>
          </a:custGeom>
          <a:blipFill>
            <a:blip r:embed="rId1"/>
            <a:stretch>
              <a:fillRect l="-3317" r="-3317"/>
            </a:stretch>
          </a:blipFill>
        </p:spPr>
        <p:txBody>
          <a:bodyPr/>
          <a:lstStyle/>
          <a:p>
            <a:endParaRPr lang="vi-VN" dirty="0"/>
          </a:p>
        </p:txBody>
      </p:sp>
      <p:sp>
        <p:nvSpPr>
          <p:cNvPr id="3" name="TextBox 3"/>
          <p:cNvSpPr txBox="1"/>
          <p:nvPr/>
        </p:nvSpPr>
        <p:spPr>
          <a:xfrm>
            <a:off x="1028700" y="3066008"/>
            <a:ext cx="10172700" cy="20774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140"/>
              </a:lnSpc>
            </a:pPr>
            <a:r>
              <a:rPr lang="en-US" sz="7205" dirty="0" err="1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NAMeNODE</a:t>
            </a:r>
            <a:r>
              <a:rPr lang="en-US" sz="7205" dirty="0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 AND DATANODE</a:t>
            </a:r>
            <a:endParaRPr lang="en-US" sz="7205" dirty="0">
              <a:solidFill>
                <a:srgbClr val="FFFFFF"/>
              </a:solidFill>
              <a:latin typeface="Mokoto"/>
              <a:ea typeface="Mokoto"/>
              <a:cs typeface="Mokoto"/>
              <a:sym typeface="Mokoto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1028700" y="9248775"/>
            <a:ext cx="3190857" cy="0"/>
          </a:xfrm>
          <a:prstGeom prst="line">
            <a:avLst/>
          </a:prstGeom>
          <a:ln w="19050" cap="flat">
            <a:solidFill>
              <a:srgbClr val="ADFD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14068443" y="828321"/>
            <a:ext cx="3190857" cy="4210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200"/>
              </a:lnSpc>
              <a:spcBef>
                <a:spcPct val="0"/>
              </a:spcBef>
            </a:pPr>
            <a:r>
              <a:rPr lang="en-US" sz="3200" b="1" spc="-96" dirty="0">
                <a:solidFill>
                  <a:srgbClr val="FFFFFF"/>
                </a:solidFill>
                <a:latin typeface="Helvetica World Bold" panose="020B0800040000020004" charset="-122"/>
                <a:ea typeface="Helvetica World Bold" panose="020B0800040000020004" charset="-122"/>
                <a:cs typeface="Helvetica World Bold" panose="020B0800040000020004" charset="-122"/>
                <a:sym typeface="Helvetica World Bold" panose="020B0800040000020004" charset="-122"/>
              </a:rPr>
              <a:t>Slide 16</a:t>
            </a:r>
            <a:endParaRPr lang="en-US" sz="3200" b="1" spc="-96" dirty="0">
              <a:solidFill>
                <a:srgbClr val="FFFFFF"/>
              </a:solidFill>
              <a:latin typeface="Helvetica World Bold" panose="020B0800040000020004" charset="-122"/>
              <a:ea typeface="Helvetica World Bold" panose="020B0800040000020004" charset="-122"/>
              <a:cs typeface="Helvetica World Bold" panose="020B0800040000020004" charset="-122"/>
              <a:sym typeface="Helvetica World Bold" panose="020B0800040000020004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14068443" y="1479511"/>
            <a:ext cx="3190857" cy="0"/>
          </a:xfrm>
          <a:prstGeom prst="line">
            <a:avLst/>
          </a:prstGeom>
          <a:ln w="19050" cap="flat">
            <a:solidFill>
              <a:srgbClr val="ADFDFF"/>
            </a:solidFill>
            <a:prstDash val="solid"/>
            <a:headEnd type="none" w="sm" len="sm"/>
            <a:tailEnd type="none" w="sm" len="sm"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/>
          <p:cNvSpPr/>
          <p:nvPr/>
        </p:nvSpPr>
        <p:spPr>
          <a:xfrm>
            <a:off x="1028700" y="9248775"/>
            <a:ext cx="3190857" cy="0"/>
          </a:xfrm>
          <a:prstGeom prst="line">
            <a:avLst/>
          </a:prstGeom>
          <a:ln w="19050" cap="flat">
            <a:solidFill>
              <a:srgbClr val="ADFD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14068443" y="828321"/>
            <a:ext cx="3190857" cy="410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200"/>
              </a:lnSpc>
              <a:spcBef>
                <a:spcPct val="0"/>
              </a:spcBef>
            </a:pPr>
            <a:r>
              <a:rPr lang="en-US" sz="3200" b="1" spc="-96">
                <a:solidFill>
                  <a:srgbClr val="FFFFFF"/>
                </a:solidFill>
                <a:latin typeface="Helvetica World Bold" panose="020B0800040000020004" charset="-122"/>
                <a:ea typeface="Helvetica World Bold" panose="020B0800040000020004" charset="-122"/>
                <a:cs typeface="Helvetica World Bold" panose="020B0800040000020004" charset="-122"/>
                <a:sym typeface="Helvetica World Bold" panose="020B0800040000020004" charset="-122"/>
              </a:rPr>
              <a:t>Slide </a:t>
            </a:r>
            <a:r>
              <a:rPr lang="vi-VN" altLang="en-US" sz="3200" b="1" spc="-96">
                <a:solidFill>
                  <a:srgbClr val="FFFFFF"/>
                </a:solidFill>
                <a:latin typeface="Helvetica World Bold" panose="020B0800040000020004" charset="-122"/>
                <a:ea typeface="Helvetica World Bold" panose="020B0800040000020004" charset="-122"/>
                <a:cs typeface="Helvetica World Bold" panose="020B0800040000020004" charset="-122"/>
                <a:sym typeface="Helvetica World Bold" panose="020B0800040000020004" charset="-122"/>
              </a:rPr>
              <a:t>17</a:t>
            </a:r>
            <a:endParaRPr lang="vi-VN" altLang="en-US" sz="3200" b="1" spc="-96">
              <a:solidFill>
                <a:srgbClr val="FFFFFF"/>
              </a:solidFill>
              <a:latin typeface="Helvetica World Bold" panose="020B0800040000020004" charset="-122"/>
              <a:ea typeface="Helvetica World Bold" panose="020B0800040000020004" charset="-122"/>
              <a:cs typeface="Helvetica World Bold" panose="020B0800040000020004" charset="-122"/>
              <a:sym typeface="Helvetica World Bold" panose="020B0800040000020004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14068443" y="1479511"/>
            <a:ext cx="3190857" cy="0"/>
          </a:xfrm>
          <a:prstGeom prst="line">
            <a:avLst/>
          </a:prstGeom>
          <a:ln w="19050" cap="flat">
            <a:solidFill>
              <a:srgbClr val="ADFD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TextBox 8"/>
          <p:cNvSpPr txBox="1"/>
          <p:nvPr/>
        </p:nvSpPr>
        <p:spPr>
          <a:xfrm>
            <a:off x="11811000" y="2050344"/>
            <a:ext cx="472440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vi-VN" sz="4400" dirty="0">
                <a:solidFill>
                  <a:schemeClr val="bg1"/>
                </a:solidFill>
              </a:rPr>
              <a:t>Quản lí không gian tên hệ thống tập tin</a:t>
            </a:r>
            <a:endParaRPr lang="vi-VN" sz="4400" dirty="0">
              <a:solidFill>
                <a:schemeClr val="bg1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vi-VN" sz="4400" dirty="0">
                <a:solidFill>
                  <a:schemeClr val="bg1"/>
                </a:solidFill>
              </a:rPr>
              <a:t>Vị trí lưu trữ của từng khối dữ liệu</a:t>
            </a:r>
            <a:endParaRPr lang="vi-VN" sz="4400" dirty="0">
              <a:solidFill>
                <a:schemeClr val="bg1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vi-VN" sz="4400" dirty="0">
                <a:solidFill>
                  <a:schemeClr val="bg1"/>
                </a:solidFill>
              </a:rPr>
              <a:t>Các quyền truy cập thuộc tính file</a:t>
            </a:r>
            <a:endParaRPr lang="vi-VN" sz="4400" dirty="0">
              <a:solidFill>
                <a:schemeClr val="bg1"/>
              </a:solidFill>
            </a:endParaRPr>
          </a:p>
        </p:txBody>
      </p:sp>
      <p:sp>
        <p:nvSpPr>
          <p:cNvPr id="10" name="TextBox 3"/>
          <p:cNvSpPr txBox="1"/>
          <p:nvPr/>
        </p:nvSpPr>
        <p:spPr>
          <a:xfrm>
            <a:off x="4876800" y="433145"/>
            <a:ext cx="10172700" cy="10387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140"/>
              </a:lnSpc>
            </a:pPr>
            <a:r>
              <a:rPr lang="en-US" sz="7205" dirty="0" err="1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NAMeNODE</a:t>
            </a:r>
            <a:endParaRPr lang="en-US" sz="7205" dirty="0">
              <a:solidFill>
                <a:srgbClr val="FFFFFF"/>
              </a:solidFill>
              <a:latin typeface="Mokoto"/>
              <a:ea typeface="Mokoto"/>
              <a:cs typeface="Mokoto"/>
              <a:sym typeface="Mokoto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023" y="2492030"/>
            <a:ext cx="10256583" cy="530293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/>
          <p:cNvSpPr/>
          <p:nvPr/>
        </p:nvSpPr>
        <p:spPr>
          <a:xfrm>
            <a:off x="1028700" y="9248775"/>
            <a:ext cx="3190857" cy="0"/>
          </a:xfrm>
          <a:prstGeom prst="line">
            <a:avLst/>
          </a:prstGeom>
          <a:ln w="19050" cap="flat">
            <a:solidFill>
              <a:srgbClr val="ADFD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14068443" y="828321"/>
            <a:ext cx="3190857" cy="410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200"/>
              </a:lnSpc>
              <a:spcBef>
                <a:spcPct val="0"/>
              </a:spcBef>
            </a:pPr>
            <a:r>
              <a:rPr lang="en-US" sz="3200" b="1" spc="-96">
                <a:solidFill>
                  <a:srgbClr val="FFFFFF"/>
                </a:solidFill>
                <a:latin typeface="Helvetica World Bold" panose="020B0800040000020004" charset="-122"/>
                <a:ea typeface="Helvetica World Bold" panose="020B0800040000020004" charset="-122"/>
                <a:cs typeface="Helvetica World Bold" panose="020B0800040000020004" charset="-122"/>
                <a:sym typeface="Helvetica World Bold" panose="020B0800040000020004" charset="-122"/>
              </a:rPr>
              <a:t>Slide </a:t>
            </a:r>
            <a:r>
              <a:rPr lang="vi-VN" altLang="en-US" sz="3200" b="1" spc="-96">
                <a:solidFill>
                  <a:srgbClr val="FFFFFF"/>
                </a:solidFill>
                <a:latin typeface="Helvetica World Bold" panose="020B0800040000020004" charset="-122"/>
                <a:ea typeface="Helvetica World Bold" panose="020B0800040000020004" charset="-122"/>
                <a:cs typeface="Helvetica World Bold" panose="020B0800040000020004" charset="-122"/>
                <a:sym typeface="Helvetica World Bold" panose="020B0800040000020004" charset="-122"/>
              </a:rPr>
              <a:t>18</a:t>
            </a:r>
            <a:endParaRPr lang="vi-VN" altLang="en-US" sz="3200" b="1" spc="-96">
              <a:solidFill>
                <a:srgbClr val="FFFFFF"/>
              </a:solidFill>
              <a:latin typeface="Helvetica World Bold" panose="020B0800040000020004" charset="-122"/>
              <a:ea typeface="Helvetica World Bold" panose="020B0800040000020004" charset="-122"/>
              <a:cs typeface="Helvetica World Bold" panose="020B0800040000020004" charset="-122"/>
              <a:sym typeface="Helvetica World Bold" panose="020B0800040000020004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14068443" y="1479511"/>
            <a:ext cx="3190857" cy="0"/>
          </a:xfrm>
          <a:prstGeom prst="line">
            <a:avLst/>
          </a:prstGeom>
          <a:ln w="19050" cap="flat">
            <a:solidFill>
              <a:srgbClr val="ADFD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TextBox 8"/>
          <p:cNvSpPr txBox="1"/>
          <p:nvPr/>
        </p:nvSpPr>
        <p:spPr>
          <a:xfrm>
            <a:off x="11706243" y="3467100"/>
            <a:ext cx="4724400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vi-VN" sz="4400" dirty="0">
                <a:solidFill>
                  <a:schemeClr val="bg1"/>
                </a:solidFill>
              </a:rPr>
              <a:t>Là nơi lưu trữ dữ liệu thực tế</a:t>
            </a:r>
            <a:endParaRPr lang="vi-VN" sz="4400" dirty="0">
              <a:solidFill>
                <a:schemeClr val="bg1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vi-VN" sz="4400" dirty="0">
                <a:solidFill>
                  <a:schemeClr val="bg1"/>
                </a:solidFill>
              </a:rPr>
              <a:t>HDFS chia file thành các khối và phân phối vào Datanode</a:t>
            </a:r>
            <a:endParaRPr lang="vi-VN" sz="4400" dirty="0">
              <a:solidFill>
                <a:schemeClr val="bg1"/>
              </a:solidFill>
            </a:endParaRPr>
          </a:p>
        </p:txBody>
      </p:sp>
      <p:sp>
        <p:nvSpPr>
          <p:cNvPr id="10" name="TextBox 3"/>
          <p:cNvSpPr txBox="1"/>
          <p:nvPr/>
        </p:nvSpPr>
        <p:spPr>
          <a:xfrm>
            <a:off x="5491171" y="438225"/>
            <a:ext cx="10172700" cy="10387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140"/>
              </a:lnSpc>
            </a:pPr>
            <a:r>
              <a:rPr lang="en-US" sz="7205" dirty="0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DATANODE</a:t>
            </a:r>
            <a:endParaRPr lang="en-US" sz="7205" dirty="0">
              <a:solidFill>
                <a:srgbClr val="FFFFFF"/>
              </a:solidFill>
              <a:latin typeface="Mokoto"/>
              <a:ea typeface="Mokoto"/>
              <a:cs typeface="Mokoto"/>
              <a:sym typeface="Mokoto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699" y="2559049"/>
            <a:ext cx="10282557" cy="52514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/>
          <p:cNvSpPr/>
          <p:nvPr/>
        </p:nvSpPr>
        <p:spPr>
          <a:xfrm>
            <a:off x="1028700" y="9248775"/>
            <a:ext cx="3190857" cy="0"/>
          </a:xfrm>
          <a:prstGeom prst="line">
            <a:avLst/>
          </a:prstGeom>
          <a:ln w="19050" cap="flat">
            <a:solidFill>
              <a:srgbClr val="ADFD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14068443" y="828321"/>
            <a:ext cx="3190857" cy="410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200"/>
              </a:lnSpc>
              <a:spcBef>
                <a:spcPct val="0"/>
              </a:spcBef>
            </a:pPr>
            <a:r>
              <a:rPr lang="en-US" sz="3200" b="1" spc="-96">
                <a:solidFill>
                  <a:srgbClr val="FFFFFF"/>
                </a:solidFill>
                <a:latin typeface="Helvetica World Bold" panose="020B0800040000020004" charset="-122"/>
                <a:ea typeface="Helvetica World Bold" panose="020B0800040000020004" charset="-122"/>
                <a:cs typeface="Helvetica World Bold" panose="020B0800040000020004" charset="-122"/>
                <a:sym typeface="Helvetica World Bold" panose="020B0800040000020004" charset="-122"/>
              </a:rPr>
              <a:t>Slide </a:t>
            </a:r>
            <a:r>
              <a:rPr lang="vi-VN" altLang="en-US" sz="3200" b="1" spc="-96">
                <a:solidFill>
                  <a:srgbClr val="FFFFFF"/>
                </a:solidFill>
                <a:latin typeface="Helvetica World Bold" panose="020B0800040000020004" charset="-122"/>
                <a:ea typeface="Helvetica World Bold" panose="020B0800040000020004" charset="-122"/>
                <a:cs typeface="Helvetica World Bold" panose="020B0800040000020004" charset="-122"/>
                <a:sym typeface="Helvetica World Bold" panose="020B0800040000020004" charset="-122"/>
              </a:rPr>
              <a:t>19</a:t>
            </a:r>
            <a:endParaRPr lang="vi-VN" altLang="en-US" sz="3200" b="1" spc="-96">
              <a:solidFill>
                <a:srgbClr val="FFFFFF"/>
              </a:solidFill>
              <a:latin typeface="Helvetica World Bold" panose="020B0800040000020004" charset="-122"/>
              <a:ea typeface="Helvetica World Bold" panose="020B0800040000020004" charset="-122"/>
              <a:cs typeface="Helvetica World Bold" panose="020B0800040000020004" charset="-122"/>
              <a:sym typeface="Helvetica World Bold" panose="020B0800040000020004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14068443" y="1479511"/>
            <a:ext cx="3190857" cy="0"/>
          </a:xfrm>
          <a:prstGeom prst="line">
            <a:avLst/>
          </a:prstGeom>
          <a:ln w="19050" cap="flat">
            <a:solidFill>
              <a:srgbClr val="ADFD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TextBox 8"/>
          <p:cNvSpPr txBox="1"/>
          <p:nvPr/>
        </p:nvSpPr>
        <p:spPr>
          <a:xfrm>
            <a:off x="1857357" y="3238500"/>
            <a:ext cx="4724400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vi-VN" sz="4400" dirty="0">
                <a:solidFill>
                  <a:schemeClr val="bg1"/>
                </a:solidFill>
              </a:rPr>
              <a:t>Fsimage là một snapshot của toàn bộ metadata của HDFS </a:t>
            </a:r>
            <a:endParaRPr lang="vi-VN" sz="4400" dirty="0">
              <a:solidFill>
                <a:schemeClr val="bg1"/>
              </a:solidFill>
            </a:endParaRPr>
          </a:p>
        </p:txBody>
      </p:sp>
      <p:sp>
        <p:nvSpPr>
          <p:cNvPr id="10" name="TextBox 3"/>
          <p:cNvSpPr txBox="1"/>
          <p:nvPr/>
        </p:nvSpPr>
        <p:spPr>
          <a:xfrm>
            <a:off x="5491171" y="438225"/>
            <a:ext cx="10172700" cy="10387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140"/>
              </a:lnSpc>
            </a:pPr>
            <a:r>
              <a:rPr lang="en-US" sz="7205" dirty="0" err="1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NameNODE</a:t>
            </a:r>
            <a:endParaRPr lang="en-US" sz="7205" dirty="0">
              <a:solidFill>
                <a:srgbClr val="FFFFFF"/>
              </a:solidFill>
              <a:latin typeface="Mokoto"/>
              <a:ea typeface="Mokoto"/>
              <a:cs typeface="Mokoto"/>
              <a:sym typeface="Mokoto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2767118"/>
            <a:ext cx="7562850" cy="520996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/>
          <p:cNvSpPr/>
          <p:nvPr/>
        </p:nvSpPr>
        <p:spPr>
          <a:xfrm>
            <a:off x="1028700" y="9248775"/>
            <a:ext cx="3190857" cy="0"/>
          </a:xfrm>
          <a:prstGeom prst="line">
            <a:avLst/>
          </a:prstGeom>
          <a:ln w="19050" cap="flat">
            <a:solidFill>
              <a:srgbClr val="ADFD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14068443" y="828321"/>
            <a:ext cx="3190857" cy="410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200"/>
              </a:lnSpc>
              <a:spcBef>
                <a:spcPct val="0"/>
              </a:spcBef>
            </a:pPr>
            <a:r>
              <a:rPr lang="en-US" sz="3200" b="1" spc="-96">
                <a:solidFill>
                  <a:srgbClr val="FFFFFF"/>
                </a:solidFill>
                <a:latin typeface="Helvetica World Bold" panose="020B0800040000020004" charset="-122"/>
                <a:ea typeface="Helvetica World Bold" panose="020B0800040000020004" charset="-122"/>
                <a:cs typeface="Helvetica World Bold" panose="020B0800040000020004" charset="-122"/>
                <a:sym typeface="Helvetica World Bold" panose="020B0800040000020004" charset="-122"/>
              </a:rPr>
              <a:t>Slide </a:t>
            </a:r>
            <a:r>
              <a:rPr lang="vi-VN" altLang="en-US" sz="3200" b="1" spc="-96">
                <a:solidFill>
                  <a:srgbClr val="FFFFFF"/>
                </a:solidFill>
                <a:latin typeface="Helvetica World Bold" panose="020B0800040000020004" charset="-122"/>
                <a:ea typeface="Helvetica World Bold" panose="020B0800040000020004" charset="-122"/>
                <a:cs typeface="Helvetica World Bold" panose="020B0800040000020004" charset="-122"/>
                <a:sym typeface="Helvetica World Bold" panose="020B0800040000020004" charset="-122"/>
              </a:rPr>
              <a:t>20</a:t>
            </a:r>
            <a:endParaRPr lang="vi-VN" altLang="en-US" sz="3200" b="1" spc="-96">
              <a:solidFill>
                <a:srgbClr val="FFFFFF"/>
              </a:solidFill>
              <a:latin typeface="Helvetica World Bold" panose="020B0800040000020004" charset="-122"/>
              <a:ea typeface="Helvetica World Bold" panose="020B0800040000020004" charset="-122"/>
              <a:cs typeface="Helvetica World Bold" panose="020B0800040000020004" charset="-122"/>
              <a:sym typeface="Helvetica World Bold" panose="020B0800040000020004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14068443" y="1479511"/>
            <a:ext cx="3190857" cy="0"/>
          </a:xfrm>
          <a:prstGeom prst="line">
            <a:avLst/>
          </a:prstGeom>
          <a:ln w="19050" cap="flat">
            <a:solidFill>
              <a:srgbClr val="ADFD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" name="TextBox 8"/>
          <p:cNvSpPr txBox="1"/>
          <p:nvPr/>
        </p:nvSpPr>
        <p:spPr>
          <a:xfrm>
            <a:off x="1857357" y="2956053"/>
            <a:ext cx="47244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vi-VN" sz="4400" dirty="0">
                <a:solidFill>
                  <a:schemeClr val="bg1"/>
                </a:solidFill>
              </a:rPr>
              <a:t>Edits: là một log file chứa mọi thay đổi của hệ thống file kể từ khi tệp fsimage cuối cùng được ghi </a:t>
            </a:r>
            <a:endParaRPr lang="vi-VN" sz="4400" dirty="0">
              <a:solidFill>
                <a:schemeClr val="bg1"/>
              </a:solidFill>
            </a:endParaRPr>
          </a:p>
        </p:txBody>
      </p:sp>
      <p:sp>
        <p:nvSpPr>
          <p:cNvPr id="10" name="TextBox 3"/>
          <p:cNvSpPr txBox="1"/>
          <p:nvPr/>
        </p:nvSpPr>
        <p:spPr>
          <a:xfrm>
            <a:off x="5491171" y="438225"/>
            <a:ext cx="10172700" cy="10387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140"/>
              </a:lnSpc>
            </a:pPr>
            <a:r>
              <a:rPr lang="en-US" sz="7205" dirty="0" err="1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NameNODE</a:t>
            </a:r>
            <a:endParaRPr lang="en-US" sz="7205" dirty="0">
              <a:solidFill>
                <a:srgbClr val="FFFFFF"/>
              </a:solidFill>
              <a:latin typeface="Mokoto"/>
              <a:ea typeface="Mokoto"/>
              <a:cs typeface="Mokoto"/>
              <a:sym typeface="Mokoto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2767118"/>
            <a:ext cx="7562850" cy="520996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3333" b="-3333"/>
            </a:stretch>
          </a:blipFill>
        </p:spPr>
        <p:txBody>
          <a:bodyPr/>
          <a:lstStyle/>
          <a:p>
            <a:endParaRPr lang="vi-VN" dirty="0"/>
          </a:p>
        </p:txBody>
      </p:sp>
      <p:sp>
        <p:nvSpPr>
          <p:cNvPr id="3" name="TextBox 3"/>
          <p:cNvSpPr txBox="1"/>
          <p:nvPr/>
        </p:nvSpPr>
        <p:spPr>
          <a:xfrm>
            <a:off x="1028700" y="3669755"/>
            <a:ext cx="9287433" cy="1045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40"/>
              </a:lnSpc>
            </a:pPr>
            <a:r>
              <a:rPr lang="en-US" sz="7205" dirty="0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EXAMPLE</a:t>
            </a:r>
            <a:endParaRPr lang="en-US" sz="7205" dirty="0">
              <a:solidFill>
                <a:srgbClr val="FFFFFF"/>
              </a:solidFill>
              <a:latin typeface="Mokoto"/>
              <a:ea typeface="Mokoto"/>
              <a:cs typeface="Mokoto"/>
              <a:sym typeface="Mokoto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1028700" y="9248775"/>
            <a:ext cx="3190857" cy="0"/>
          </a:xfrm>
          <a:prstGeom prst="line">
            <a:avLst/>
          </a:prstGeom>
          <a:ln w="19050" cap="flat">
            <a:solidFill>
              <a:srgbClr val="ADFD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4068443" y="828321"/>
            <a:ext cx="3190857" cy="410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200"/>
              </a:lnSpc>
              <a:spcBef>
                <a:spcPct val="0"/>
              </a:spcBef>
            </a:pPr>
            <a:r>
              <a:rPr lang="en-US" sz="3200" b="1" spc="-96">
                <a:solidFill>
                  <a:srgbClr val="FFFFFF"/>
                </a:solidFill>
                <a:latin typeface="Helvetica World Bold" panose="020B0800040000020004" charset="-122"/>
                <a:ea typeface="Helvetica World Bold" panose="020B0800040000020004" charset="-122"/>
                <a:cs typeface="Helvetica World Bold" panose="020B0800040000020004" charset="-122"/>
                <a:sym typeface="Helvetica World Bold" panose="020B0800040000020004" charset="-122"/>
              </a:rPr>
              <a:t>Slide </a:t>
            </a:r>
            <a:r>
              <a:rPr lang="vi-VN" altLang="en-US" sz="3200" b="1" spc="-96">
                <a:solidFill>
                  <a:srgbClr val="FFFFFF"/>
                </a:solidFill>
                <a:latin typeface="Helvetica World Bold" panose="020B0800040000020004" charset="-122"/>
                <a:ea typeface="Helvetica World Bold" panose="020B0800040000020004" charset="-122"/>
                <a:cs typeface="Helvetica World Bold" panose="020B0800040000020004" charset="-122"/>
                <a:sym typeface="Helvetica World Bold" panose="020B0800040000020004" charset="-122"/>
              </a:rPr>
              <a:t>21</a:t>
            </a:r>
            <a:endParaRPr lang="vi-VN" altLang="en-US" sz="3200" b="1" spc="-96">
              <a:solidFill>
                <a:srgbClr val="FFFFFF"/>
              </a:solidFill>
              <a:latin typeface="Helvetica World Bold" panose="020B0800040000020004" charset="-122"/>
              <a:ea typeface="Helvetica World Bold" panose="020B0800040000020004" charset="-122"/>
              <a:cs typeface="Helvetica World Bold" panose="020B0800040000020004" charset="-122"/>
              <a:sym typeface="Helvetica World Bold" panose="020B0800040000020004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14068443" y="1479511"/>
            <a:ext cx="3190857" cy="0"/>
          </a:xfrm>
          <a:prstGeom prst="line">
            <a:avLst/>
          </a:prstGeom>
          <a:ln w="19050" cap="flat">
            <a:solidFill>
              <a:srgbClr val="ADFD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TextBox 12"/>
          <p:cNvSpPr txBox="1"/>
          <p:nvPr/>
        </p:nvSpPr>
        <p:spPr>
          <a:xfrm>
            <a:off x="2362200" y="5572125"/>
            <a:ext cx="1170624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vi-VN" sz="3600" dirty="0">
                <a:solidFill>
                  <a:schemeClr val="bg1"/>
                </a:solidFill>
              </a:rPr>
              <a:t>HDFS tạo Fsimage lúc 10:00</a:t>
            </a:r>
            <a:endParaRPr lang="vi-VN" sz="3600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vi-VN" sz="3600" dirty="0">
                <a:solidFill>
                  <a:schemeClr val="bg1"/>
                </a:solidFill>
              </a:rPr>
              <a:t>Các thao tác tạo/xoá được thực hiện từ 10h -&gt;11h</a:t>
            </a:r>
            <a:endParaRPr lang="vi-VN" sz="3600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vi-VN" sz="3600" dirty="0">
                <a:solidFill>
                  <a:schemeClr val="bg1"/>
                </a:solidFill>
              </a:rPr>
              <a:t>Vào lúc 11:00, Namenode gặp sự cố cần restart</a:t>
            </a:r>
            <a:endParaRPr lang="vi-VN" sz="3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3250">
        <p15:prstTrans prst="origami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3333" b="-3333"/>
            </a:stretch>
          </a:blipFill>
        </p:spPr>
        <p:txBody>
          <a:bodyPr/>
          <a:lstStyle/>
          <a:p>
            <a:endParaRPr lang="vi-VN" dirty="0"/>
          </a:p>
        </p:txBody>
      </p:sp>
      <p:sp>
        <p:nvSpPr>
          <p:cNvPr id="3" name="TextBox 3"/>
          <p:cNvSpPr txBox="1"/>
          <p:nvPr/>
        </p:nvSpPr>
        <p:spPr>
          <a:xfrm>
            <a:off x="1028700" y="3669755"/>
            <a:ext cx="9287433" cy="1045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40"/>
              </a:lnSpc>
            </a:pPr>
            <a:r>
              <a:rPr lang="en-US" sz="7205" dirty="0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EXAMPLE</a:t>
            </a:r>
            <a:endParaRPr lang="en-US" sz="7205" dirty="0">
              <a:solidFill>
                <a:srgbClr val="FFFFFF"/>
              </a:solidFill>
              <a:latin typeface="Mokoto"/>
              <a:ea typeface="Mokoto"/>
              <a:cs typeface="Mokoto"/>
              <a:sym typeface="Mokoto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1028700" y="9248775"/>
            <a:ext cx="3190857" cy="0"/>
          </a:xfrm>
          <a:prstGeom prst="line">
            <a:avLst/>
          </a:prstGeom>
          <a:ln w="19050" cap="flat">
            <a:solidFill>
              <a:srgbClr val="ADFD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4068443" y="828321"/>
            <a:ext cx="3190857" cy="410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200"/>
              </a:lnSpc>
              <a:spcBef>
                <a:spcPct val="0"/>
              </a:spcBef>
            </a:pPr>
            <a:r>
              <a:rPr lang="en-US" sz="3200" b="1" spc="-96">
                <a:solidFill>
                  <a:srgbClr val="FFFFFF"/>
                </a:solidFill>
                <a:latin typeface="Helvetica World Bold" panose="020B0800040000020004" charset="-122"/>
                <a:ea typeface="Helvetica World Bold" panose="020B0800040000020004" charset="-122"/>
                <a:cs typeface="Helvetica World Bold" panose="020B0800040000020004" charset="-122"/>
                <a:sym typeface="Helvetica World Bold" panose="020B0800040000020004" charset="-122"/>
              </a:rPr>
              <a:t>Slide </a:t>
            </a:r>
            <a:r>
              <a:rPr lang="vi-VN" altLang="en-US" sz="3200" b="1" spc="-96">
                <a:solidFill>
                  <a:srgbClr val="FFFFFF"/>
                </a:solidFill>
                <a:latin typeface="Helvetica World Bold" panose="020B0800040000020004" charset="-122"/>
                <a:ea typeface="Helvetica World Bold" panose="020B0800040000020004" charset="-122"/>
                <a:cs typeface="Helvetica World Bold" panose="020B0800040000020004" charset="-122"/>
                <a:sym typeface="Helvetica World Bold" panose="020B0800040000020004" charset="-122"/>
              </a:rPr>
              <a:t>22</a:t>
            </a:r>
            <a:endParaRPr lang="vi-VN" altLang="en-US" sz="3200" b="1" spc="-96">
              <a:solidFill>
                <a:srgbClr val="FFFFFF"/>
              </a:solidFill>
              <a:latin typeface="Helvetica World Bold" panose="020B0800040000020004" charset="-122"/>
              <a:ea typeface="Helvetica World Bold" panose="020B0800040000020004" charset="-122"/>
              <a:cs typeface="Helvetica World Bold" panose="020B0800040000020004" charset="-122"/>
              <a:sym typeface="Helvetica World Bold" panose="020B0800040000020004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14068443" y="1479511"/>
            <a:ext cx="3190857" cy="0"/>
          </a:xfrm>
          <a:prstGeom prst="line">
            <a:avLst/>
          </a:prstGeom>
          <a:ln w="19050" cap="flat">
            <a:solidFill>
              <a:srgbClr val="ADFD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" name="TextBox 12"/>
          <p:cNvSpPr txBox="1"/>
          <p:nvPr/>
        </p:nvSpPr>
        <p:spPr>
          <a:xfrm>
            <a:off x="2362200" y="5572125"/>
            <a:ext cx="1234440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vi-VN" sz="3600" dirty="0">
                <a:solidFill>
                  <a:schemeClr val="bg1"/>
                </a:solidFill>
              </a:rPr>
              <a:t>Nó sẽ:</a:t>
            </a:r>
            <a:endParaRPr lang="vi-VN" sz="3600" dirty="0">
              <a:solidFill>
                <a:schemeClr val="bg1"/>
              </a:solidFill>
            </a:endParaRPr>
          </a:p>
          <a:p>
            <a:pPr marL="1200150" lvl="1" indent="-742950">
              <a:buFont typeface="+mj-lt"/>
              <a:buAutoNum type="arabicPeriod"/>
            </a:pPr>
            <a:r>
              <a:rPr lang="vi-VN" sz="3600" dirty="0">
                <a:solidFill>
                  <a:schemeClr val="bg1"/>
                </a:solidFill>
              </a:rPr>
              <a:t>Tải Fsimage lúc 10:00</a:t>
            </a:r>
            <a:endParaRPr lang="vi-VN" sz="3600" dirty="0">
              <a:solidFill>
                <a:schemeClr val="bg1"/>
              </a:solidFill>
            </a:endParaRPr>
          </a:p>
          <a:p>
            <a:pPr marL="1200150" lvl="1" indent="-742950">
              <a:buFont typeface="+mj-lt"/>
              <a:buAutoNum type="arabicPeriod"/>
            </a:pPr>
            <a:r>
              <a:rPr lang="vi-VN" sz="3600" dirty="0">
                <a:solidFill>
                  <a:schemeClr val="bg1"/>
                </a:solidFill>
              </a:rPr>
              <a:t>Đọc tập tin edits</a:t>
            </a:r>
            <a:endParaRPr lang="vi-VN" sz="3600" dirty="0">
              <a:solidFill>
                <a:schemeClr val="bg1"/>
              </a:solidFill>
            </a:endParaRPr>
          </a:p>
          <a:p>
            <a:pPr marL="1200150" lvl="1" indent="-742950">
              <a:buFont typeface="+mj-lt"/>
              <a:buAutoNum type="arabicPeriod"/>
            </a:pPr>
            <a:r>
              <a:rPr lang="vi-VN" sz="3600" dirty="0">
                <a:solidFill>
                  <a:schemeClr val="bg1"/>
                </a:solidFill>
              </a:rPr>
              <a:t>Hệ thống trở về trạng thái hiện tại trước khi gặp sự cố</a:t>
            </a:r>
            <a:endParaRPr lang="vi-VN" sz="3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conveyor dir="l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2780275" y="1279468"/>
            <a:ext cx="12292183" cy="20774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140"/>
              </a:lnSpc>
            </a:pPr>
            <a:r>
              <a:rPr lang="en-US" sz="7205" dirty="0" err="1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READing</a:t>
            </a:r>
            <a:r>
              <a:rPr lang="en-US" sz="7205" dirty="0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 DATA ON</a:t>
            </a:r>
            <a:endParaRPr lang="en-US" sz="7205" dirty="0">
              <a:solidFill>
                <a:srgbClr val="FFFFFF"/>
              </a:solidFill>
              <a:latin typeface="Mokoto"/>
              <a:ea typeface="Mokoto"/>
              <a:cs typeface="Mokoto"/>
              <a:sym typeface="Mokoto"/>
            </a:endParaRPr>
          </a:p>
          <a:p>
            <a:pPr algn="l">
              <a:lnSpc>
                <a:spcPts val="8140"/>
              </a:lnSpc>
            </a:pPr>
            <a:r>
              <a:rPr lang="en-US" sz="7205" dirty="0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HADOOP CLUSTER</a:t>
            </a:r>
            <a:endParaRPr lang="en-US" sz="7205" dirty="0">
              <a:solidFill>
                <a:srgbClr val="FFFFFF"/>
              </a:solidFill>
              <a:latin typeface="Mokoto"/>
              <a:ea typeface="Mokoto"/>
              <a:cs typeface="Mokoto"/>
              <a:sym typeface="Mokoto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4068443" y="828321"/>
            <a:ext cx="3190857" cy="410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200"/>
              </a:lnSpc>
              <a:spcBef>
                <a:spcPct val="0"/>
              </a:spcBef>
            </a:pPr>
            <a:r>
              <a:rPr lang="en-US" sz="3200" b="1" spc="-96" dirty="0">
                <a:solidFill>
                  <a:srgbClr val="FFFFFF"/>
                </a:solidFill>
                <a:latin typeface="Helvetica World Bold" panose="020B0800040000020004" charset="-122"/>
                <a:ea typeface="Helvetica World Bold" panose="020B0800040000020004" charset="-122"/>
                <a:cs typeface="Helvetica World Bold" panose="020B0800040000020004" charset="-122"/>
                <a:sym typeface="Helvetica World Bold" panose="020B0800040000020004" charset="-122"/>
              </a:rPr>
              <a:t>Slide </a:t>
            </a:r>
            <a:r>
              <a:rPr lang="vi-VN" altLang="en-US" sz="3200" b="1" spc="-96" dirty="0">
                <a:solidFill>
                  <a:srgbClr val="FFFFFF"/>
                </a:solidFill>
                <a:latin typeface="Helvetica World Bold" panose="020B0800040000020004" charset="-122"/>
                <a:ea typeface="Helvetica World Bold" panose="020B0800040000020004" charset="-122"/>
                <a:cs typeface="Helvetica World Bold" panose="020B0800040000020004" charset="-122"/>
                <a:sym typeface="Helvetica World Bold" panose="020B0800040000020004" charset="-122"/>
              </a:rPr>
              <a:t>23</a:t>
            </a:r>
            <a:endParaRPr lang="vi-VN" altLang="en-US" sz="3200" b="1" spc="-96" dirty="0">
              <a:solidFill>
                <a:srgbClr val="FFFFFF"/>
              </a:solidFill>
              <a:latin typeface="Helvetica World Bold" panose="020B0800040000020004" charset="-122"/>
              <a:ea typeface="Helvetica World Bold" panose="020B0800040000020004" charset="-122"/>
              <a:cs typeface="Helvetica World Bold" panose="020B0800040000020004" charset="-122"/>
              <a:sym typeface="Helvetica World Bold" panose="020B0800040000020004" charset="-122"/>
            </a:endParaRPr>
          </a:p>
        </p:txBody>
      </p:sp>
      <p:pic>
        <p:nvPicPr>
          <p:cNvPr id="28" name="Picture 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80275" y="3924300"/>
            <a:ext cx="11696700" cy="53527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>
        <p15:prstTrans prst="drape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6"/>
          <p:cNvSpPr txBox="1"/>
          <p:nvPr/>
        </p:nvSpPr>
        <p:spPr>
          <a:xfrm>
            <a:off x="2780275" y="1279468"/>
            <a:ext cx="12292183" cy="20774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140"/>
              </a:lnSpc>
            </a:pPr>
            <a:r>
              <a:rPr lang="en-US" sz="7205" dirty="0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writing DATA ON</a:t>
            </a:r>
            <a:endParaRPr lang="en-US" sz="7205" dirty="0">
              <a:solidFill>
                <a:srgbClr val="FFFFFF"/>
              </a:solidFill>
              <a:latin typeface="Mokoto"/>
              <a:ea typeface="Mokoto"/>
              <a:cs typeface="Mokoto"/>
              <a:sym typeface="Mokoto"/>
            </a:endParaRPr>
          </a:p>
          <a:p>
            <a:pPr algn="l">
              <a:lnSpc>
                <a:spcPts val="8140"/>
              </a:lnSpc>
            </a:pPr>
            <a:r>
              <a:rPr lang="en-US" sz="7205" dirty="0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HADOOP CLUSTER</a:t>
            </a:r>
            <a:endParaRPr lang="en-US" sz="7205" dirty="0">
              <a:solidFill>
                <a:srgbClr val="FFFFFF"/>
              </a:solidFill>
              <a:latin typeface="Mokoto"/>
              <a:ea typeface="Mokoto"/>
              <a:cs typeface="Mokoto"/>
              <a:sym typeface="Mokoto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4068443" y="828321"/>
            <a:ext cx="3190857" cy="410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200"/>
              </a:lnSpc>
              <a:spcBef>
                <a:spcPct val="0"/>
              </a:spcBef>
            </a:pPr>
            <a:r>
              <a:rPr lang="en-US" sz="3200" b="1" spc="-96" dirty="0">
                <a:solidFill>
                  <a:srgbClr val="FFFFFF"/>
                </a:solidFill>
                <a:latin typeface="Helvetica World Bold" panose="020B0800040000020004" charset="-122"/>
                <a:ea typeface="Helvetica World Bold" panose="020B0800040000020004" charset="-122"/>
                <a:cs typeface="Helvetica World Bold" panose="020B0800040000020004" charset="-122"/>
                <a:sym typeface="Helvetica World Bold" panose="020B0800040000020004" charset="-122"/>
              </a:rPr>
              <a:t>Slide </a:t>
            </a:r>
            <a:r>
              <a:rPr lang="vi-VN" altLang="en-US" sz="3200" b="1" spc="-96" dirty="0">
                <a:solidFill>
                  <a:srgbClr val="FFFFFF"/>
                </a:solidFill>
                <a:latin typeface="Helvetica World Bold" panose="020B0800040000020004" charset="-122"/>
                <a:ea typeface="Helvetica World Bold" panose="020B0800040000020004" charset="-122"/>
                <a:cs typeface="Helvetica World Bold" panose="020B0800040000020004" charset="-122"/>
                <a:sym typeface="Helvetica World Bold" panose="020B0800040000020004" charset="-122"/>
              </a:rPr>
              <a:t>25</a:t>
            </a:r>
            <a:endParaRPr lang="vi-VN" altLang="en-US" sz="3200" b="1" spc="-96" dirty="0">
              <a:solidFill>
                <a:srgbClr val="FFFFFF"/>
              </a:solidFill>
              <a:latin typeface="Helvetica World Bold" panose="020B0800040000020004" charset="-122"/>
              <a:ea typeface="Helvetica World Bold" panose="020B0800040000020004" charset="-122"/>
              <a:cs typeface="Helvetica World Bold" panose="020B0800040000020004" charset="-122"/>
              <a:sym typeface="Helvetica World Bold" panose="020B0800040000020004" charset="-12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80275" y="3862945"/>
            <a:ext cx="12227149" cy="5319155"/>
          </a:xfrm>
          <a:prstGeom prst="rect">
            <a:avLst/>
          </a:prstGeom>
        </p:spPr>
      </p:pic>
    </p:spTree>
  </p:cSld>
  <p:clrMapOvr>
    <a:masterClrMapping/>
  </p:clrMapOvr>
  <p:transition spd="slow">
    <p:comb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3333" b="-3333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4197891"/>
            <a:ext cx="9287433" cy="20872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40"/>
              </a:lnSpc>
            </a:pPr>
            <a:r>
              <a:rPr lang="vi-VN" altLang="en-US" sz="7205" dirty="0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ProBLems</a:t>
            </a:r>
            <a:endParaRPr lang="vi-VN" altLang="en-US" sz="7205" dirty="0">
              <a:solidFill>
                <a:srgbClr val="FFFFFF"/>
              </a:solidFill>
              <a:latin typeface="Mokoto"/>
              <a:ea typeface="Mokoto"/>
              <a:cs typeface="Mokoto"/>
              <a:sym typeface="Mokoto"/>
            </a:endParaRPr>
          </a:p>
          <a:p>
            <a:pPr algn="l">
              <a:lnSpc>
                <a:spcPts val="8140"/>
              </a:lnSpc>
            </a:pPr>
            <a:endParaRPr lang="vi-VN" altLang="en-US" sz="7205" dirty="0">
              <a:solidFill>
                <a:srgbClr val="FFFFFF"/>
              </a:solidFill>
              <a:latin typeface="Mokoto"/>
              <a:ea typeface="Mokoto"/>
              <a:cs typeface="Mokoto"/>
              <a:sym typeface="Mokoto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1028700" y="9248775"/>
            <a:ext cx="3190857" cy="0"/>
          </a:xfrm>
          <a:prstGeom prst="line">
            <a:avLst/>
          </a:prstGeom>
          <a:ln w="19050" cap="flat">
            <a:solidFill>
              <a:srgbClr val="ADFD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4068443" y="828321"/>
            <a:ext cx="3190857" cy="410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200"/>
              </a:lnSpc>
              <a:spcBef>
                <a:spcPct val="0"/>
              </a:spcBef>
            </a:pPr>
            <a:r>
              <a:rPr lang="en-US" sz="3200" b="1" spc="-96">
                <a:solidFill>
                  <a:srgbClr val="FFFFFF"/>
                </a:solidFill>
                <a:latin typeface="Helvetica World Bold" panose="020B0800040000020004" charset="-122"/>
                <a:ea typeface="Helvetica World Bold" panose="020B0800040000020004" charset="-122"/>
                <a:cs typeface="Helvetica World Bold" panose="020B0800040000020004" charset="-122"/>
                <a:sym typeface="Helvetica World Bold" panose="020B0800040000020004" charset="-122"/>
              </a:rPr>
              <a:t>Slide </a:t>
            </a:r>
            <a:r>
              <a:rPr lang="vi-VN" altLang="en-US" sz="3200" b="1" spc="-96">
                <a:solidFill>
                  <a:srgbClr val="FFFFFF"/>
                </a:solidFill>
                <a:latin typeface="Helvetica World Bold" panose="020B0800040000020004" charset="-122"/>
                <a:ea typeface="Helvetica World Bold" panose="020B0800040000020004" charset="-122"/>
                <a:cs typeface="Helvetica World Bold" panose="020B0800040000020004" charset="-122"/>
                <a:sym typeface="Helvetica World Bold" panose="020B0800040000020004" charset="-122"/>
              </a:rPr>
              <a:t>26</a:t>
            </a:r>
            <a:endParaRPr lang="vi-VN" altLang="en-US" sz="3200" b="1" spc="-96">
              <a:solidFill>
                <a:srgbClr val="FFFFFF"/>
              </a:solidFill>
              <a:latin typeface="Helvetica World Bold" panose="020B0800040000020004" charset="-122"/>
              <a:ea typeface="Helvetica World Bold" panose="020B0800040000020004" charset="-122"/>
              <a:cs typeface="Helvetica World Bold" panose="020B0800040000020004" charset="-122"/>
              <a:sym typeface="Helvetica World Bold" panose="020B0800040000020004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14068443" y="1479511"/>
            <a:ext cx="3190857" cy="0"/>
          </a:xfrm>
          <a:prstGeom prst="line">
            <a:avLst/>
          </a:prstGeom>
          <a:ln w="19050" cap="flat">
            <a:solidFill>
              <a:srgbClr val="ADFD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0"/>
          <p:cNvSpPr txBox="1"/>
          <p:nvPr/>
        </p:nvSpPr>
        <p:spPr>
          <a:xfrm>
            <a:off x="1695687" y="1053697"/>
            <a:ext cx="1266215" cy="609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95"/>
              </a:lnSpc>
            </a:pPr>
            <a:r>
              <a:rPr lang="en-US" sz="1995" b="1" spc="-99">
                <a:solidFill>
                  <a:srgbClr val="FFFFFF"/>
                </a:solidFill>
                <a:latin typeface="Helvetica World Bold" panose="020B0800040000020004" charset="-122"/>
                <a:ea typeface="Helvetica World Bold" panose="020B0800040000020004" charset="-122"/>
                <a:cs typeface="Helvetica World Bold" panose="020B0800040000020004" charset="-122"/>
                <a:sym typeface="Helvetica World Bold" panose="020B0800040000020004" charset="-122"/>
              </a:rPr>
              <a:t>Arowwai Industries</a:t>
            </a:r>
            <a:endParaRPr lang="en-US" sz="1995" b="1" spc="-99">
              <a:solidFill>
                <a:srgbClr val="FFFFFF"/>
              </a:solidFill>
              <a:latin typeface="Helvetica World Bold" panose="020B0800040000020004" charset="-122"/>
              <a:ea typeface="Helvetica World Bold" panose="020B0800040000020004" charset="-122"/>
              <a:cs typeface="Helvetica World Bold" panose="020B0800040000020004" charset="-122"/>
              <a:sym typeface="Helvetica World Bold" panose="020B0800040000020004" charset="-122"/>
            </a:endParaRPr>
          </a:p>
        </p:txBody>
      </p:sp>
      <p:sp>
        <p:nvSpPr>
          <p:cNvPr id="11" name="Freeform 11"/>
          <p:cNvSpPr/>
          <p:nvPr/>
        </p:nvSpPr>
        <p:spPr>
          <a:xfrm>
            <a:off x="1028700" y="1035649"/>
            <a:ext cx="505280" cy="627323"/>
          </a:xfrm>
          <a:custGeom>
            <a:avLst/>
            <a:gdLst/>
            <a:ahLst/>
            <a:cxnLst/>
            <a:rect l="l" t="t" r="r" b="b"/>
            <a:pathLst>
              <a:path w="505280" h="627323">
                <a:moveTo>
                  <a:pt x="0" y="0"/>
                </a:moveTo>
                <a:lnTo>
                  <a:pt x="505280" y="0"/>
                </a:lnTo>
                <a:lnTo>
                  <a:pt x="505280" y="627323"/>
                </a:lnTo>
                <a:lnTo>
                  <a:pt x="0" y="6273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3333" b="-3333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028700" y="4197891"/>
            <a:ext cx="9287433" cy="1045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40"/>
              </a:lnSpc>
            </a:pPr>
            <a:r>
              <a:rPr lang="en-US" sz="7205" dirty="0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Solution</a:t>
            </a:r>
            <a:endParaRPr lang="en-US" sz="7205" dirty="0">
              <a:solidFill>
                <a:srgbClr val="FFFFFF"/>
              </a:solidFill>
              <a:latin typeface="Mokoto"/>
              <a:ea typeface="Mokoto"/>
              <a:cs typeface="Mokoto"/>
              <a:sym typeface="Mokoto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1028700" y="9248775"/>
            <a:ext cx="3190857" cy="0"/>
          </a:xfrm>
          <a:prstGeom prst="line">
            <a:avLst/>
          </a:prstGeom>
          <a:ln w="19050" cap="flat">
            <a:solidFill>
              <a:srgbClr val="ADFD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4068443" y="828321"/>
            <a:ext cx="3190857" cy="410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200"/>
              </a:lnSpc>
              <a:spcBef>
                <a:spcPct val="0"/>
              </a:spcBef>
            </a:pPr>
            <a:r>
              <a:rPr lang="en-US" sz="3200" b="1" spc="-96">
                <a:solidFill>
                  <a:srgbClr val="FFFFFF"/>
                </a:solidFill>
                <a:latin typeface="Helvetica World Bold" panose="020B0800040000020004" charset="-122"/>
                <a:ea typeface="Helvetica World Bold" panose="020B0800040000020004" charset="-122"/>
                <a:cs typeface="Helvetica World Bold" panose="020B0800040000020004" charset="-122"/>
                <a:sym typeface="Helvetica World Bold" panose="020B0800040000020004" charset="-122"/>
              </a:rPr>
              <a:t>Slide </a:t>
            </a:r>
            <a:r>
              <a:rPr lang="vi-VN" altLang="en-US" sz="3200" b="1" spc="-96">
                <a:solidFill>
                  <a:srgbClr val="FFFFFF"/>
                </a:solidFill>
                <a:latin typeface="Helvetica World Bold" panose="020B0800040000020004" charset="-122"/>
                <a:ea typeface="Helvetica World Bold" panose="020B0800040000020004" charset="-122"/>
                <a:cs typeface="Helvetica World Bold" panose="020B0800040000020004" charset="-122"/>
                <a:sym typeface="Helvetica World Bold" panose="020B0800040000020004" charset="-122"/>
              </a:rPr>
              <a:t>27</a:t>
            </a:r>
            <a:endParaRPr lang="vi-VN" altLang="en-US" sz="3200" b="1" spc="-96">
              <a:solidFill>
                <a:srgbClr val="FFFFFF"/>
              </a:solidFill>
              <a:latin typeface="Helvetica World Bold" panose="020B0800040000020004" charset="-122"/>
              <a:ea typeface="Helvetica World Bold" panose="020B0800040000020004" charset="-122"/>
              <a:cs typeface="Helvetica World Bold" panose="020B0800040000020004" charset="-122"/>
              <a:sym typeface="Helvetica World Bold" panose="020B0800040000020004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14068443" y="1479511"/>
            <a:ext cx="3190857" cy="0"/>
          </a:xfrm>
          <a:prstGeom prst="line">
            <a:avLst/>
          </a:prstGeom>
          <a:ln w="19050" cap="flat">
            <a:solidFill>
              <a:srgbClr val="ADFD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TextBox 10"/>
          <p:cNvSpPr txBox="1"/>
          <p:nvPr/>
        </p:nvSpPr>
        <p:spPr>
          <a:xfrm>
            <a:off x="1695687" y="1053697"/>
            <a:ext cx="1266215" cy="609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95"/>
              </a:lnSpc>
            </a:pPr>
            <a:r>
              <a:rPr lang="en-US" sz="1995" b="1" spc="-99">
                <a:solidFill>
                  <a:srgbClr val="FFFFFF"/>
                </a:solidFill>
                <a:latin typeface="Helvetica World Bold" panose="020B0800040000020004" charset="-122"/>
                <a:ea typeface="Helvetica World Bold" panose="020B0800040000020004" charset="-122"/>
                <a:cs typeface="Helvetica World Bold" panose="020B0800040000020004" charset="-122"/>
                <a:sym typeface="Helvetica World Bold" panose="020B0800040000020004" charset="-122"/>
              </a:rPr>
              <a:t>Arowwai Industries</a:t>
            </a:r>
            <a:endParaRPr lang="en-US" sz="1995" b="1" spc="-99">
              <a:solidFill>
                <a:srgbClr val="FFFFFF"/>
              </a:solidFill>
              <a:latin typeface="Helvetica World Bold" panose="020B0800040000020004" charset="-122"/>
              <a:ea typeface="Helvetica World Bold" panose="020B0800040000020004" charset="-122"/>
              <a:cs typeface="Helvetica World Bold" panose="020B0800040000020004" charset="-122"/>
              <a:sym typeface="Helvetica World Bold" panose="020B0800040000020004" charset="-122"/>
            </a:endParaRPr>
          </a:p>
        </p:txBody>
      </p:sp>
      <p:sp>
        <p:nvSpPr>
          <p:cNvPr id="11" name="Freeform 11"/>
          <p:cNvSpPr/>
          <p:nvPr/>
        </p:nvSpPr>
        <p:spPr>
          <a:xfrm>
            <a:off x="1028700" y="1035649"/>
            <a:ext cx="505280" cy="627323"/>
          </a:xfrm>
          <a:custGeom>
            <a:avLst/>
            <a:gdLst/>
            <a:ahLst/>
            <a:cxnLst/>
            <a:rect l="l" t="t" r="r" b="b"/>
            <a:pathLst>
              <a:path w="505280" h="627323">
                <a:moveTo>
                  <a:pt x="0" y="0"/>
                </a:moveTo>
                <a:lnTo>
                  <a:pt x="505280" y="0"/>
                </a:lnTo>
                <a:lnTo>
                  <a:pt x="505280" y="627323"/>
                </a:lnTo>
                <a:lnTo>
                  <a:pt x="0" y="6273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1F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9248775"/>
            <a:ext cx="3190857" cy="0"/>
          </a:xfrm>
          <a:prstGeom prst="line">
            <a:avLst/>
          </a:prstGeom>
          <a:ln w="19050" cap="flat">
            <a:solidFill>
              <a:srgbClr val="ADFD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AutoShape 3"/>
          <p:cNvSpPr/>
          <p:nvPr/>
        </p:nvSpPr>
        <p:spPr>
          <a:xfrm>
            <a:off x="14068443" y="1479511"/>
            <a:ext cx="3190857" cy="0"/>
          </a:xfrm>
          <a:prstGeom prst="line">
            <a:avLst/>
          </a:prstGeom>
          <a:ln w="19050" cap="flat">
            <a:solidFill>
              <a:srgbClr val="ADFD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6552499" y="2201522"/>
            <a:ext cx="7202300" cy="1045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40"/>
              </a:lnSpc>
            </a:pPr>
            <a:r>
              <a:rPr lang="en-US" sz="7205" dirty="0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SOLUTION</a:t>
            </a:r>
            <a:endParaRPr lang="en-US" sz="7205" dirty="0">
              <a:solidFill>
                <a:srgbClr val="FFFFFF"/>
              </a:solidFill>
              <a:latin typeface="Mokoto"/>
              <a:ea typeface="Mokoto"/>
              <a:cs typeface="Mokoto"/>
              <a:sym typeface="Mokoto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4068443" y="828321"/>
            <a:ext cx="3190857" cy="410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200"/>
              </a:lnSpc>
              <a:spcBef>
                <a:spcPct val="0"/>
              </a:spcBef>
            </a:pPr>
            <a:r>
              <a:rPr lang="en-US" sz="3200" b="1" spc="-96" dirty="0">
                <a:solidFill>
                  <a:srgbClr val="FFFFFF"/>
                </a:solidFill>
                <a:latin typeface="Helvetica World Bold" panose="020B0800040000020004" charset="-122"/>
                <a:ea typeface="Helvetica World Bold" panose="020B0800040000020004" charset="-122"/>
                <a:cs typeface="Helvetica World Bold" panose="020B0800040000020004" charset="-122"/>
                <a:sym typeface="Helvetica World Bold" panose="020B0800040000020004" charset="-122"/>
              </a:rPr>
              <a:t>Slide </a:t>
            </a:r>
            <a:r>
              <a:rPr lang="vi-VN" altLang="en-US" sz="3200" b="1" spc="-96" dirty="0">
                <a:solidFill>
                  <a:srgbClr val="FFFFFF"/>
                </a:solidFill>
                <a:latin typeface="Helvetica World Bold" panose="020B0800040000020004" charset="-122"/>
                <a:ea typeface="Helvetica World Bold" panose="020B0800040000020004" charset="-122"/>
                <a:cs typeface="Helvetica World Bold" panose="020B0800040000020004" charset="-122"/>
                <a:sym typeface="Helvetica World Bold" panose="020B0800040000020004" charset="-122"/>
              </a:rPr>
              <a:t>28</a:t>
            </a:r>
            <a:endParaRPr lang="vi-VN" altLang="en-US" sz="3200" b="1" spc="-96" dirty="0">
              <a:solidFill>
                <a:srgbClr val="FFFFFF"/>
              </a:solidFill>
              <a:latin typeface="Helvetica World Bold" panose="020B0800040000020004" charset="-122"/>
              <a:ea typeface="Helvetica World Bold" panose="020B0800040000020004" charset="-122"/>
              <a:cs typeface="Helvetica World Bold" panose="020B0800040000020004" charset="-122"/>
              <a:sym typeface="Helvetica World Bold" panose="020B0800040000020004" charset="-122"/>
            </a:endParaRPr>
          </a:p>
        </p:txBody>
      </p:sp>
      <p:sp>
        <p:nvSpPr>
          <p:cNvPr id="15" name="TextBox 10"/>
          <p:cNvSpPr txBox="1"/>
          <p:nvPr/>
        </p:nvSpPr>
        <p:spPr>
          <a:xfrm>
            <a:off x="1676400" y="1219083"/>
            <a:ext cx="1276113" cy="2965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195"/>
              </a:lnSpc>
            </a:pPr>
            <a:r>
              <a:rPr lang="en-US" sz="2400" b="1" spc="-99" dirty="0">
                <a:solidFill>
                  <a:srgbClr val="FFFFFF"/>
                </a:solidFill>
                <a:latin typeface="Helvetica World Bold" panose="020B0800040000020004" charset="-122"/>
                <a:ea typeface="Helvetica World Bold" panose="020B0800040000020004" charset="-122"/>
                <a:cs typeface="Helvetica World Bold" panose="020B0800040000020004" charset="-122"/>
                <a:sym typeface="Helvetica World Bold" panose="020B0800040000020004" charset="-122"/>
              </a:rPr>
              <a:t>K46F</a:t>
            </a:r>
            <a:endParaRPr lang="en-US" sz="2400" b="1" spc="-99" dirty="0">
              <a:solidFill>
                <a:srgbClr val="FFFFFF"/>
              </a:solidFill>
              <a:latin typeface="Helvetica World Bold" panose="020B0800040000020004" charset="-122"/>
              <a:ea typeface="Helvetica World Bold" panose="020B0800040000020004" charset="-122"/>
              <a:cs typeface="Helvetica World Bold" panose="020B0800040000020004" charset="-122"/>
              <a:sym typeface="Helvetica World Bold" panose="020B0800040000020004" charset="-122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0026" y="3932525"/>
            <a:ext cx="6739213" cy="4574631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3649" y="3932526"/>
            <a:ext cx="6511057" cy="45746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7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028700" y="2716668"/>
            <a:ext cx="9445616" cy="10451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40"/>
              </a:lnSpc>
            </a:pPr>
            <a:endParaRPr lang="en-US" sz="7205" dirty="0">
              <a:solidFill>
                <a:srgbClr val="FFFFFF"/>
              </a:solidFill>
              <a:latin typeface="Mokoto"/>
              <a:ea typeface="Mokoto"/>
              <a:cs typeface="Mokoto"/>
              <a:sym typeface="Mokoto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1028700" y="9248775"/>
            <a:ext cx="3190857" cy="0"/>
          </a:xfrm>
          <a:prstGeom prst="line">
            <a:avLst/>
          </a:prstGeom>
          <a:ln w="19050" cap="flat">
            <a:solidFill>
              <a:srgbClr val="ADFDF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14068443" y="828321"/>
            <a:ext cx="3190857" cy="410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200"/>
              </a:lnSpc>
              <a:spcBef>
                <a:spcPct val="0"/>
              </a:spcBef>
            </a:pPr>
            <a:r>
              <a:rPr lang="en-US" sz="3200" b="1" spc="-96">
                <a:solidFill>
                  <a:srgbClr val="FFFFFF"/>
                </a:solidFill>
                <a:latin typeface="Helvetica World Bold" panose="020B0800040000020004" charset="-122"/>
                <a:ea typeface="Helvetica World Bold" panose="020B0800040000020004" charset="-122"/>
                <a:cs typeface="Helvetica World Bold" panose="020B0800040000020004" charset="-122"/>
                <a:sym typeface="Helvetica World Bold" panose="020B0800040000020004" charset="-122"/>
              </a:rPr>
              <a:t>Slide </a:t>
            </a:r>
            <a:r>
              <a:rPr lang="vi-VN" altLang="en-US" sz="3200" b="1" spc="-96">
                <a:solidFill>
                  <a:srgbClr val="FFFFFF"/>
                </a:solidFill>
                <a:latin typeface="Helvetica World Bold" panose="020B0800040000020004" charset="-122"/>
                <a:ea typeface="Helvetica World Bold" panose="020B0800040000020004" charset="-122"/>
                <a:cs typeface="Helvetica World Bold" panose="020B0800040000020004" charset="-122"/>
                <a:sym typeface="Helvetica World Bold" panose="020B0800040000020004" charset="-122"/>
              </a:rPr>
              <a:t>29</a:t>
            </a:r>
            <a:endParaRPr lang="vi-VN" altLang="en-US" sz="3200" b="1" spc="-96">
              <a:solidFill>
                <a:srgbClr val="FFFFFF"/>
              </a:solidFill>
              <a:latin typeface="Helvetica World Bold" panose="020B0800040000020004" charset="-122"/>
              <a:ea typeface="Helvetica World Bold" panose="020B0800040000020004" charset="-122"/>
              <a:cs typeface="Helvetica World Bold" panose="020B0800040000020004" charset="-122"/>
              <a:sym typeface="Helvetica World Bold" panose="020B0800040000020004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14068443" y="1479511"/>
            <a:ext cx="3190857" cy="0"/>
          </a:xfrm>
          <a:prstGeom prst="line">
            <a:avLst/>
          </a:prstGeom>
          <a:ln w="19050" cap="flat">
            <a:solidFill>
              <a:srgbClr val="ADFDFF"/>
            </a:solidFill>
            <a:prstDash val="solid"/>
            <a:headEnd type="none" w="sm" len="sm"/>
            <a:tailEnd type="none" w="sm" len="sm"/>
          </a:ln>
        </p:spPr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62200" y="2600765"/>
            <a:ext cx="14003465" cy="508546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 t="-3333" b="-3333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209673" y="4203742"/>
            <a:ext cx="11868655" cy="12837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990"/>
              </a:lnSpc>
            </a:pPr>
            <a:r>
              <a:rPr lang="en-US" sz="8840">
                <a:solidFill>
                  <a:srgbClr val="FFFFFF"/>
                </a:solidFill>
                <a:latin typeface="Mokoto"/>
                <a:ea typeface="Mokoto"/>
                <a:cs typeface="Mokoto"/>
                <a:sym typeface="Mokoto"/>
              </a:rPr>
              <a:t>Thank You</a:t>
            </a:r>
            <a:endParaRPr lang="en-US" sz="8840">
              <a:solidFill>
                <a:srgbClr val="FFFFFF"/>
              </a:solidFill>
              <a:latin typeface="Mokoto"/>
              <a:ea typeface="Mokoto"/>
              <a:cs typeface="Mokoto"/>
              <a:sym typeface="Mokoto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3515306" y="5433649"/>
            <a:ext cx="11257388" cy="7067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20"/>
              </a:lnSpc>
            </a:pPr>
            <a:r>
              <a:rPr lang="en-US" sz="3800" b="1" spc="379" dirty="0">
                <a:solidFill>
                  <a:srgbClr val="FFFFFF"/>
                </a:solidFill>
                <a:latin typeface="Helvetica World Bold" panose="020B0800040000020004" charset="-122"/>
                <a:ea typeface="Helvetica World Bold" panose="020B0800040000020004" charset="-122"/>
                <a:cs typeface="Helvetica World Bold" panose="020B0800040000020004" charset="-122"/>
                <a:sym typeface="Helvetica World Bold" panose="020B0800040000020004" charset="-122"/>
              </a:rPr>
              <a:t>FOR YOUR ATTENTION</a:t>
            </a:r>
            <a:endParaRPr lang="en-US" sz="3800" b="1" spc="379" dirty="0">
              <a:solidFill>
                <a:srgbClr val="FFFFFF"/>
              </a:solidFill>
              <a:latin typeface="Helvetica World Bold" panose="020B0800040000020004" charset="-122"/>
              <a:ea typeface="Helvetica World Bold" panose="020B0800040000020004" charset="-122"/>
              <a:cs typeface="Helvetica World Bold" panose="020B0800040000020004" charset="-122"/>
              <a:sym typeface="Helvetica World Bold" panose="020B08000400000200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1607</Words>
  <Application>WPS Presentation</Application>
  <PresentationFormat>Custom</PresentationFormat>
  <Paragraphs>174</Paragraphs>
  <Slides>30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43" baseType="lpstr">
      <vt:lpstr>Arial</vt:lpstr>
      <vt:lpstr>SimSun</vt:lpstr>
      <vt:lpstr>Wingdings</vt:lpstr>
      <vt:lpstr>Mokoto</vt:lpstr>
      <vt:lpstr>Segoe Print</vt:lpstr>
      <vt:lpstr>Helvetica World Bold</vt:lpstr>
      <vt:lpstr>Times New Roman</vt:lpstr>
      <vt:lpstr>Helvetica World</vt:lpstr>
      <vt:lpstr>Arial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Black and White Modern Artificial Intelligence Presentation</dc:title>
  <dc:creator/>
  <cp:lastModifiedBy>WPS_1685537257</cp:lastModifiedBy>
  <cp:revision>8</cp:revision>
  <dcterms:created xsi:type="dcterms:W3CDTF">2006-08-16T00:00:00Z</dcterms:created>
  <dcterms:modified xsi:type="dcterms:W3CDTF">2024-10-24T02:44:00Z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BCFF46D2F8B3402DB430BCDB7D6F2823_13</vt:lpwstr>
  </property>
  <property fmtid="{D5CDD505-2E9C-101B-9397-08002B2CF9AE}" pid="3" name="KSOProductBuildVer">
    <vt:lpwstr>1033-12.2.0.18607</vt:lpwstr>
  </property>
</Properties>
</file>